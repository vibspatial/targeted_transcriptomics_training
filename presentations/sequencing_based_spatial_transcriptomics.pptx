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12"/>
  </p:notesMasterIdLst>
  <p:sldIdLst>
    <p:sldId id="256" r:id="rId5"/>
    <p:sldId id="257" r:id="rId6"/>
    <p:sldId id="258" r:id="rId7"/>
    <p:sldId id="263" r:id="rId8"/>
    <p:sldId id="261" r:id="rId9"/>
    <p:sldId id="262" r:id="rId10"/>
    <p:sldId id="259" r:id="rId1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3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E1591D-F497-9D0E-3616-FF930E61177E}" name="Alexander Botzki" initials="AB" userId="S::alexander.botzki@vib.be::d7241705-a0f8-431d-a24f-4665cb7fed3a" providerId="AD"/>
  <p188:author id="{BF8C23A8-0B85-B7B0-AF9B-F6E627760792}" name="Nele Vlaminck" initials="NV" userId="S::nele.vlaminck@vib.be::96129d26-d504-454e-983f-b2195f58004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en Van Hamme" initials="EVH" lastIdx="0" clrIdx="0">
    <p:extLst>
      <p:ext uri="{19B8F6BF-5375-455C-9EA6-DF929625EA0E}">
        <p15:presenceInfo xmlns:p15="http://schemas.microsoft.com/office/powerpoint/2012/main" userId="S-1-5-21-3090467761-1269783873-757627579-10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  <a:srgbClr val="7EB5B2"/>
    <a:srgbClr val="017397"/>
    <a:srgbClr val="111111"/>
    <a:srgbClr val="5F5F5F"/>
    <a:srgbClr val="A9A9A9"/>
    <a:srgbClr val="8D8D8D"/>
    <a:srgbClr val="EEEEEE"/>
    <a:srgbClr val="A6A6A6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6" autoAdjust="0"/>
    <p:restoredTop sz="93932" autoAdjust="0"/>
  </p:normalViewPr>
  <p:slideViewPr>
    <p:cSldViewPr snapToGrid="0">
      <p:cViewPr varScale="1">
        <p:scale>
          <a:sx n="74" d="100"/>
          <a:sy n="74" d="100"/>
        </p:scale>
        <p:origin x="101" y="144"/>
      </p:cViewPr>
      <p:guideLst>
        <p:guide orient="horz" pos="1638"/>
        <p:guide pos="3840"/>
        <p:guide orient="horz" pos="213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9C7F0-BA7D-9948-8BFA-F6142ACAC9C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22120-CC29-A446-B41C-EE0DB8197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5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AC51E-12A2-4307-B327-0CB7D8F3EBA4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55415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22120-CC29-A446-B41C-EE0DB8197C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1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8820-BEDC-5A1B-CEF9-2FA9D9B0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6D71D-D510-3CB9-01A0-435353868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5900C-2A4A-7FA1-A300-30E0C70FE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31649-229D-D76D-ACC2-C4575C943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A22120-CC29-A446-B41C-EE0DB8197C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10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2522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026338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039181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88764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030852" y="6050735"/>
            <a:ext cx="1474152" cy="216694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99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346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189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A03FFD-18F2-42F7-B64A-5987417DF5A7}"/>
              </a:ext>
            </a:extLst>
          </p:cNvPr>
          <p:cNvSpPr/>
          <p:nvPr userDrawn="1"/>
        </p:nvSpPr>
        <p:spPr>
          <a:xfrm>
            <a:off x="9585886" y="6065239"/>
            <a:ext cx="2425810" cy="7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945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D3B1D-72DB-4260-9061-76E41FE1D502}"/>
              </a:ext>
            </a:extLst>
          </p:cNvPr>
          <p:cNvSpPr/>
          <p:nvPr userDrawn="1"/>
        </p:nvSpPr>
        <p:spPr>
          <a:xfrm>
            <a:off x="180304" y="6014434"/>
            <a:ext cx="1287888" cy="7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18C33-81FD-48A9-A28B-DA9EE1A3AF73}"/>
              </a:ext>
            </a:extLst>
          </p:cNvPr>
          <p:cNvSpPr/>
          <p:nvPr userDrawn="1"/>
        </p:nvSpPr>
        <p:spPr>
          <a:xfrm>
            <a:off x="9585886" y="6065239"/>
            <a:ext cx="2425810" cy="7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0098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0" name="TextBox 9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370210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97772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97772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275604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 + img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99179"/>
            <a:ext cx="3362011" cy="4324218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7359B44-336C-4CC5-966B-C4FFFF75C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14994" y="1799179"/>
            <a:ext cx="3362011" cy="4324218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72888B2-4261-4C9D-A9C1-E163140815F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91789" y="1799179"/>
            <a:ext cx="3362011" cy="4324218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683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3 columns with title &amp; img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31497"/>
            <a:ext cx="3362011" cy="3391899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7359B44-336C-4CC5-966B-C4FFFF75C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14994" y="2731497"/>
            <a:ext cx="3362011" cy="3391899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72888B2-4261-4C9D-A9C1-E163140815F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91789" y="2731497"/>
            <a:ext cx="3362011" cy="3391899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75F23C-744C-415F-BAC5-E57FC4831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14994" y="1798636"/>
            <a:ext cx="2267160" cy="90337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4F63E8-EE5C-467B-846A-A7E1E41F44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886" y="1800903"/>
            <a:ext cx="2267160" cy="90337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BF4D12B-AF98-4062-BED2-D233B0C81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91477" y="1809417"/>
            <a:ext cx="2267160" cy="90337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265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7" name="TextBox 6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xtBox 12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7" name="TextBox 16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287414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6" name="TextBox 5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6" name="TextBox 15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3093402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60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9531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865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B2944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24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arpy.readthedocs.io/en/latest/generated/harpy.io.visium.html#harpy.io.visium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rpy.readthedocs.io/en/latest/generated/harpy.io.visium_hd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harpy.readthedocs.io/en/latest/generated/harpy.im.add_grid_labels.html#harpy.im.add_grid_labels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harpy.readthedocs.io/en/latest/generated/harpy.im.segment.html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harpy.readthedocs.io/en/latest/generated/harpy.tb.bin_counts.html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2154" y="2452024"/>
            <a:ext cx="7461250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spc="-10" dirty="0"/>
              <a:t>Sequencing-based spatial transcriptomics</a:t>
            </a:r>
            <a:endParaRPr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4C97-2E01-60F3-5DF3-CB1D087A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Visium</a:t>
            </a:r>
            <a:r>
              <a:rPr lang="en-US" dirty="0"/>
              <a:t> reader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5EB8-D4D9-2D7A-4F5D-5C24601E3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hp.io.visium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path = </a:t>
            </a:r>
            <a:r>
              <a:rPr lang="en-US" sz="2000" dirty="0" err="1">
                <a:latin typeface="Consolas" panose="020B0609020204030204" pitchFamily="49" charset="0"/>
              </a:rPr>
              <a:t>path_outs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counts_file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counts_file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dataset_id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dataset_id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fullres_image_file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path_img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output = </a:t>
            </a:r>
            <a:r>
              <a:rPr lang="en-US" sz="2000" dirty="0" err="1">
                <a:latin typeface="Consolas" panose="020B0609020204030204" pitchFamily="49" charset="0"/>
              </a:rPr>
              <a:t>output_path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hlinkClick r:id="rId2"/>
              </a:rPr>
              <a:t>https://harpy.readthedocs.io/en/latest/generated/harpy.io.visium.html#harpy.io.visium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endParaRPr lang="en-BE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BE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0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1478-88AE-E479-F1A6-5D582CE7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E6FA-8172-235A-3CDE-6F93A424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VisiumHD</a:t>
            </a:r>
            <a:r>
              <a:rPr lang="en-US" dirty="0"/>
              <a:t> reader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815C3-F9BD-2527-831A-409F6B3B3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hp.io.visium_hd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path = </a:t>
            </a:r>
            <a:r>
              <a:rPr lang="en-US" sz="2000" dirty="0" err="1">
                <a:latin typeface="Consolas" panose="020B0609020204030204" pitchFamily="49" charset="0"/>
              </a:rPr>
              <a:t>path_outs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dataset_id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dataset_id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filtered_counts_file</a:t>
            </a:r>
            <a:r>
              <a:rPr lang="en-US" sz="2000" dirty="0">
                <a:latin typeface="Consolas" panose="020B0609020204030204" pitchFamily="49" charset="0"/>
              </a:rPr>
              <a:t> = False,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bin_size</a:t>
            </a:r>
            <a:r>
              <a:rPr lang="en-US" sz="2000" dirty="0">
                <a:latin typeface="Consolas" panose="020B0609020204030204" pitchFamily="49" charset="0"/>
              </a:rPr>
              <a:t> = [2, 8, 16, 32],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bins_as_squares</a:t>
            </a:r>
            <a:r>
              <a:rPr lang="en-US" sz="2000" dirty="0">
                <a:latin typeface="Consolas" panose="020B0609020204030204" pitchFamily="49" charset="0"/>
              </a:rPr>
              <a:t> = True,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fullres_image_file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path_img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load_all_images</a:t>
            </a:r>
            <a:r>
              <a:rPr lang="en-US" sz="2000" dirty="0">
                <a:latin typeface="Consolas" panose="020B0609020204030204" pitchFamily="49" charset="0"/>
              </a:rPr>
              <a:t> = True,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output = </a:t>
            </a:r>
            <a:r>
              <a:rPr lang="en-US" sz="2000" dirty="0" err="1">
                <a:latin typeface="Consolas" panose="020B0609020204030204" pitchFamily="49" charset="0"/>
              </a:rPr>
              <a:t>output_path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hlinkClick r:id="rId3"/>
              </a:rPr>
              <a:t>https://harpy.readthedocs.io/en/latest/generated/harpy.io.visium_hd.html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endParaRPr lang="en-BE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9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E86A-0241-6F94-E776-B93D9C81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1F18-09D8-E4AE-9100-5E43923BD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readers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3C366-CFA5-8D23-7494-1C25BEFF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have experience with the following assays: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Curio Seeker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BMKMANU S1000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BMKMANU S3000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Nova-ST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Stereo-Seq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 VIB Spatial Catalyst !</a:t>
            </a:r>
            <a:endParaRPr lang="en-B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15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B1F82-220E-BAA4-3BBA-ECCD8C5A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9453-D78D-8D83-6A78-45851947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Tesselation</a:t>
            </a:r>
            <a:endParaRPr lang="en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1583C7-6AA0-2A29-9FEF-67363EA9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hp.im.add_grid_labels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shape=shape,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size=size,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output_shapes_name</a:t>
            </a:r>
            <a:r>
              <a:rPr lang="en-US" sz="2000" dirty="0">
                <a:latin typeface="Consolas" panose="020B0609020204030204" pitchFamily="49" charset="0"/>
              </a:rPr>
              <a:t>="</a:t>
            </a:r>
            <a:r>
              <a:rPr lang="en-US" sz="2000" dirty="0" err="1">
                <a:latin typeface="Consolas" panose="020B0609020204030204" pitchFamily="49" charset="0"/>
              </a:rPr>
              <a:t>output_shapes</a:t>
            </a:r>
            <a:r>
              <a:rPr lang="en-US" sz="2000" dirty="0">
                <a:latin typeface="Consolas" panose="020B0609020204030204" pitchFamily="49" charset="0"/>
              </a:rPr>
              <a:t>",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output_labels_name</a:t>
            </a:r>
            <a:r>
              <a:rPr lang="en-US" sz="2000" dirty="0">
                <a:latin typeface="Consolas" panose="020B0609020204030204" pitchFamily="49" charset="0"/>
              </a:rPr>
              <a:t>="</a:t>
            </a:r>
            <a:r>
              <a:rPr lang="en-US" sz="2000" dirty="0" err="1">
                <a:latin typeface="Consolas" panose="020B0609020204030204" pitchFamily="49" charset="0"/>
              </a:rPr>
              <a:t>output_labels</a:t>
            </a:r>
            <a:r>
              <a:rPr lang="en-US" sz="2000" dirty="0">
                <a:latin typeface="Consolas" panose="020B0609020204030204" pitchFamily="49" charset="0"/>
              </a:rPr>
              <a:t>",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grid_type</a:t>
            </a:r>
            <a:r>
              <a:rPr lang="en-US" sz="2000" dirty="0">
                <a:latin typeface="Consolas" panose="020B0609020204030204" pitchFamily="49" charset="0"/>
              </a:rPr>
              <a:t>="square",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transformations=transformations,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overwrite=True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hlinkClick r:id="rId2"/>
              </a:rPr>
              <a:t>https://harpy.readthedocs.io/en/latest/generated/harpy.im.add_grid_labels.html#harpy.im.add_grid_labels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B708D5E-5378-1CD9-D9A6-39FABC56E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884" y="184013"/>
            <a:ext cx="468630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0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DE19-78DD-0C83-26C5-C97AD5BE6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80FA-53A5-8FD7-99E9-75B18622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  <a:endParaRPr lang="en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3D4FD4-F194-59AB-6FDD-43F1E4BC3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hp.im.segment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image_name</a:t>
            </a:r>
            <a:r>
              <a:rPr lang="en-US" sz="2000" dirty="0">
                <a:latin typeface="Consolas" panose="020B0609020204030204" pitchFamily="49" charset="0"/>
              </a:rPr>
              <a:t> = "image",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output_labels_name</a:t>
            </a:r>
            <a:r>
              <a:rPr lang="en-US" sz="2000" dirty="0">
                <a:latin typeface="Consolas" panose="020B0609020204030204" pitchFamily="49" charset="0"/>
              </a:rPr>
              <a:t> = "</a:t>
            </a:r>
            <a:r>
              <a:rPr lang="en-US" sz="2000" dirty="0" err="1">
                <a:latin typeface="Consolas" panose="020B0609020204030204" pitchFamily="49" charset="0"/>
              </a:rPr>
              <a:t>labels_nuclei</a:t>
            </a:r>
            <a:r>
              <a:rPr lang="en-US" sz="2000" dirty="0">
                <a:latin typeface="Consolas" panose="020B0609020204030204" pitchFamily="49" charset="0"/>
              </a:rPr>
              <a:t>",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output_shapes_name</a:t>
            </a:r>
            <a:r>
              <a:rPr lang="en-US" sz="2000" dirty="0">
                <a:latin typeface="Consolas" panose="020B0609020204030204" pitchFamily="49" charset="0"/>
              </a:rPr>
              <a:t> = "</a:t>
            </a:r>
            <a:r>
              <a:rPr lang="en-US" sz="2000" dirty="0" err="1">
                <a:latin typeface="Consolas" panose="020B0609020204030204" pitchFamily="49" charset="0"/>
              </a:rPr>
              <a:t>shapes_nuclei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model = </a:t>
            </a:r>
            <a:r>
              <a:rPr lang="en-US" sz="2000" dirty="0" err="1">
                <a:latin typeface="Consolas" panose="020B0609020204030204" pitchFamily="49" charset="0"/>
              </a:rPr>
              <a:t>hp.im.instanseg_callable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output = "</a:t>
            </a:r>
            <a:r>
              <a:rPr lang="en-US" sz="2000" dirty="0" err="1">
                <a:latin typeface="Consolas" panose="020B0609020204030204" pitchFamily="49" charset="0"/>
              </a:rPr>
              <a:t>all_outputs</a:t>
            </a:r>
            <a:r>
              <a:rPr lang="en-US" sz="2000" dirty="0">
                <a:latin typeface="Consolas" panose="020B0609020204030204" pitchFamily="49" charset="0"/>
              </a:rPr>
              <a:t>",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instanseg_model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instanseg_model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pixel_size</a:t>
            </a:r>
            <a:r>
              <a:rPr lang="en-US" sz="2000" dirty="0">
                <a:latin typeface="Consolas" panose="020B0609020204030204" pitchFamily="49" charset="0"/>
              </a:rPr>
              <a:t> = 0.5,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overwrite = True,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hlinkClick r:id="rId2"/>
              </a:rPr>
              <a:t>https://harpy.readthedocs.io/en/latest/generated/harpy.im.segment.html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40A8D-B96F-C155-1A45-FCC004A88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377" y="365125"/>
            <a:ext cx="4808637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90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B45E-27E5-ED3C-493C-E0DBB53F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Rebinning</a:t>
            </a:r>
            <a:endParaRPr lang="en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6AE021-67B0-5A12-C1AD-685FCB05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hp.tb.bin_counts</a:t>
            </a:r>
            <a:r>
              <a:rPr lang="en-US" sz="2000" dirty="0">
                <a:latin typeface="Consolas" panose="020B0609020204030204" pitchFamily="49" charset="0"/>
              </a:rPr>
              <a:t>(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sdata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table_name</a:t>
            </a:r>
            <a:r>
              <a:rPr lang="en-US" sz="2000" dirty="0">
                <a:latin typeface="Consolas" panose="020B0609020204030204" pitchFamily="49" charset="0"/>
              </a:rPr>
              <a:t>="table",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labels_name</a:t>
            </a:r>
            <a:r>
              <a:rPr lang="en-US" sz="2000" dirty="0">
                <a:latin typeface="Consolas" panose="020B0609020204030204" pitchFamily="49" charset="0"/>
              </a:rPr>
              <a:t>="</a:t>
            </a:r>
            <a:r>
              <a:rPr lang="en-US" sz="2000" dirty="0" err="1">
                <a:latin typeface="Consolas" panose="020B0609020204030204" pitchFamily="49" charset="0"/>
              </a:rPr>
              <a:t>labels_layer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output_name</a:t>
            </a:r>
            <a:r>
              <a:rPr lang="en-US" sz="2000" dirty="0">
                <a:latin typeface="Consolas" panose="020B0609020204030204" pitchFamily="49" charset="0"/>
              </a:rPr>
              <a:t>="</a:t>
            </a:r>
            <a:r>
              <a:rPr lang="en-US" sz="2000" dirty="0" err="1">
                <a:latin typeface="Consolas" panose="020B0609020204030204" pitchFamily="49" charset="0"/>
              </a:rPr>
              <a:t>new_table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append = False,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 overwrite=True,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hlinkClick r:id="rId2"/>
              </a:rPr>
              <a:t>https://harpy.readthedocs.io/en/latest/generated/harpy.tb.bin_counts.html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endParaRPr lang="en-BE" sz="2000" dirty="0">
              <a:latin typeface="Consolas" panose="020B0609020204030204" pitchFamily="49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FBAB7D6-F442-5EA5-8BE2-733AD7ACF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662" y="365125"/>
            <a:ext cx="3984945" cy="418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044768"/>
      </p:ext>
    </p:extLst>
  </p:cSld>
  <p:clrMapOvr>
    <a:masterClrMapping/>
  </p:clrMapOvr>
</p:sld>
</file>

<file path=ppt/theme/theme1.xml><?xml version="1.0" encoding="utf-8"?>
<a:theme xmlns:a="http://schemas.openxmlformats.org/drawingml/2006/main" name="VIB_template_new">
  <a:themeElements>
    <a:clrScheme name="VIB Colours">
      <a:dk1>
        <a:srgbClr val="1B2944"/>
      </a:dk1>
      <a:lt1>
        <a:sysClr val="window" lastClr="FFFFFF"/>
      </a:lt1>
      <a:dk2>
        <a:srgbClr val="1B2944"/>
      </a:dk2>
      <a:lt2>
        <a:srgbClr val="FFFFFF"/>
      </a:lt2>
      <a:accent1>
        <a:srgbClr val="5DB7B1"/>
      </a:accent1>
      <a:accent2>
        <a:srgbClr val="5A2A82"/>
      </a:accent2>
      <a:accent3>
        <a:srgbClr val="FF681E"/>
      </a:accent3>
      <a:accent4>
        <a:srgbClr val="1B2944"/>
      </a:accent4>
      <a:accent5>
        <a:srgbClr val="7C7C7C"/>
      </a:accent5>
      <a:accent6>
        <a:srgbClr val="FFFFFF"/>
      </a:accent6>
      <a:hlink>
        <a:srgbClr val="5DB7B1"/>
      </a:hlink>
      <a:folHlink>
        <a:srgbClr val="5DB7B1"/>
      </a:folHlink>
    </a:clrScheme>
    <a:fontScheme name="VIB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318EBDD-D315-4024-9E4D-DD22272AF3B6}" vid="{5740A0BE-9644-430B-BC39-C23ABDDB42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4E55E6-A294-444F-B048-157345E60D6D}">
  <we:reference id="wa104379279" version="2.1.0.0" store="en-US" storeType="OMEX"/>
  <we:alternateReferences>
    <we:reference id="wa104379279" version="2.1.0.0" store="WA10437927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9847DCE5DA4242BD95148C56C57335" ma:contentTypeVersion="11" ma:contentTypeDescription="Create a new document." ma:contentTypeScope="" ma:versionID="11a4d453230cd4d4c2393d6801c0fce2">
  <xsd:schema xmlns:xsd="http://www.w3.org/2001/XMLSchema" xmlns:xs="http://www.w3.org/2001/XMLSchema" xmlns:p="http://schemas.microsoft.com/office/2006/metadata/properties" xmlns:ns2="d890fe46-f0b8-485b-b8f1-9d14de9b0787" xmlns:ns3="0be0113b-24d1-4772-9566-8275849eae64" targetNamespace="http://schemas.microsoft.com/office/2006/metadata/properties" ma:root="true" ma:fieldsID="cf3d9d43ccecfc68abefe444434385a8" ns2:_="" ns3:_="">
    <xsd:import namespace="d890fe46-f0b8-485b-b8f1-9d14de9b0787"/>
    <xsd:import namespace="0be0113b-24d1-4772-9566-8275849eae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0fe46-f0b8-485b-b8f1-9d14de9b07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0113b-24d1-4772-9566-8275849eae6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2E8258-310D-4501-B7DC-626E24733C76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d890fe46-f0b8-485b-b8f1-9d14de9b0787"/>
    <ds:schemaRef ds:uri="0be0113b-24d1-4772-9566-8275849eae64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2ACFC8-8459-4508-8B1A-3BD20F30D0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C54415-54EE-4E30-91C9-4DBD1779750F}">
  <ds:schemaRefs>
    <ds:schemaRef ds:uri="0be0113b-24d1-4772-9566-8275849eae64"/>
    <ds:schemaRef ds:uri="d890fe46-f0b8-485b-b8f1-9d14de9b07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VIB_PPT_newtemplate.potx</Template>
  <TotalTime>3596</TotalTime>
  <Words>498</Words>
  <Application>Microsoft Office PowerPoint</Application>
  <PresentationFormat>Widescreen</PresentationFormat>
  <Paragraphs>76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Corbel</vt:lpstr>
      <vt:lpstr>VIB_template_new</vt:lpstr>
      <vt:lpstr>Sequencing-based spatial transcriptomics</vt:lpstr>
      <vt:lpstr>Visium reader</vt:lpstr>
      <vt:lpstr>VisiumHD reader</vt:lpstr>
      <vt:lpstr>Other readers</vt:lpstr>
      <vt:lpstr>Tesselation</vt:lpstr>
      <vt:lpstr>Segmentation</vt:lpstr>
      <vt:lpstr>Rebinning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Katrina Wright | VIB |</dc:creator>
  <cp:lastModifiedBy>Julien Mortier</cp:lastModifiedBy>
  <cp:revision>994</cp:revision>
  <cp:lastPrinted>2022-09-21T07:46:50Z</cp:lastPrinted>
  <dcterms:created xsi:type="dcterms:W3CDTF">2016-10-14T10:10:52Z</dcterms:created>
  <dcterms:modified xsi:type="dcterms:W3CDTF">2026-06-15T15:08:21Z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0x010100929847DCE5DA4242BD95148C56C57335</vt:lpwstr>
  </property>
  <property fmtid="{D5CDD505-2E9C-101B-9397-08002B2CF9AE}" pid="3" name="SPOCTopic">
    <vt:lpwstr>2;#Communication at VIB|ec6637b6-7d77-48dd-8d1a-e5ad5a42a5b7</vt:lpwstr>
  </property>
  <property fmtid="{D5CDD505-2E9C-101B-9397-08002B2CF9AE}" pid="4" name="SPOCLanguage">
    <vt:lpwstr>13;#English|cf1ccf97-a177-4e56-a5ce-0b376d8acdb5</vt:lpwstr>
  </property>
  <property fmtid="{D5CDD505-2E9C-101B-9397-08002B2CF9AE}" pid="5" name="SPOCDocType">
    <vt:lpwstr>14;#Presentation|8e68f16f-19a2-445e-867d-5034e2efae7a</vt:lpwstr>
  </property>
  <property fmtid="{D5CDD505-2E9C-101B-9397-08002B2CF9AE}" pid="6" name="MediaServiceImageTags">
    <vt:lpwstr/>
  </property>
</Properties>
</file>