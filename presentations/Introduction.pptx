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16"/>
  </p:notesMasterIdLst>
  <p:sldIdLst>
    <p:sldId id="256" r:id="rId5"/>
    <p:sldId id="6004" r:id="rId6"/>
    <p:sldId id="5974" r:id="rId7"/>
    <p:sldId id="5973" r:id="rId8"/>
    <p:sldId id="5997" r:id="rId9"/>
    <p:sldId id="5987" r:id="rId10"/>
    <p:sldId id="5999" r:id="rId11"/>
    <p:sldId id="5988" r:id="rId12"/>
    <p:sldId id="5998" r:id="rId13"/>
    <p:sldId id="6003" r:id="rId14"/>
    <p:sldId id="6002" r:id="rId1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38" userDrawn="1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4E1591D-F497-9D0E-3616-FF930E61177E}" name="Alexander Botzki" initials="AB" userId="S::alexander.botzki@vib.be::d7241705-a0f8-431d-a24f-4665cb7fed3a" providerId="AD"/>
  <p188:author id="{BF8C23A8-0B85-B7B0-AF9B-F6E627760792}" name="Nele Vlaminck" initials="NV" userId="S::nele.vlaminck@vib.be::96129d26-d504-454e-983f-b2195f580044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velien Van Hamme" initials="EVH" lastIdx="0" clrIdx="0">
    <p:extLst>
      <p:ext uri="{19B8F6BF-5375-455C-9EA6-DF929625EA0E}">
        <p15:presenceInfo xmlns:p15="http://schemas.microsoft.com/office/powerpoint/2012/main" userId="S-1-5-21-3090467761-1269783873-757627579-100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7EB5B2"/>
    <a:srgbClr val="017397"/>
    <a:srgbClr val="111111"/>
    <a:srgbClr val="5F5F5F"/>
    <a:srgbClr val="A9A9A9"/>
    <a:srgbClr val="8D8D8D"/>
    <a:srgbClr val="EEEEEE"/>
    <a:srgbClr val="A6A6A6"/>
    <a:srgbClr val="8787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66" autoAdjust="0"/>
    <p:restoredTop sz="93932" autoAdjust="0"/>
  </p:normalViewPr>
  <p:slideViewPr>
    <p:cSldViewPr snapToGrid="0">
      <p:cViewPr varScale="1">
        <p:scale>
          <a:sx n="77" d="100"/>
          <a:sy n="77" d="100"/>
        </p:scale>
        <p:origin x="840" y="72"/>
      </p:cViewPr>
      <p:guideLst>
        <p:guide orient="horz" pos="1638"/>
        <p:guide pos="3840"/>
        <p:guide orient="horz" pos="2137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9C7F0-BA7D-9948-8BFA-F6142ACAC9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A22120-CC29-A446-B41C-EE0DB8197C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850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AC51E-12A2-4307-B327-0CB7D8F3EBA4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55415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43362-E9CE-04ED-D2B4-EF6C1F281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A14D6-BFB2-FEF9-4F62-41DDB3E5E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0FC46-607C-7C3C-1719-30CBFDEFD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F1F07-AA0A-BE84-3716-7F342135E3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CE2444-01A2-9F4B-8D8D-34A9B820597E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5598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FF61-9B64-1911-45BF-05F466546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3CCAB-B0A0-79D2-7748-3568A2B42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09409-43D7-98D2-7458-C3337CB6B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3DF89-F310-FD29-2FE7-8BB103D90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CE2444-01A2-9F4B-8D8D-34A9B820597E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153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4B505-A08A-F015-7FDD-F53B32A7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CBCE9A-668F-6E27-8588-35F2F163B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6950E-48BC-CBF8-9DBF-B8105E3E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BAF7B2-B8E1-103F-9881-0E74E7A083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CE2444-01A2-9F4B-8D8D-34A9B820597E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7300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54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432043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140322" y="6343466"/>
            <a:ext cx="1474152" cy="216694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225228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026338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039181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88764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0030852" y="6050735"/>
            <a:ext cx="1474152" cy="216694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996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3460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1890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No Tag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A03FFD-18F2-42F7-B64A-5987417DF5A7}"/>
              </a:ext>
            </a:extLst>
          </p:cNvPr>
          <p:cNvSpPr/>
          <p:nvPr userDrawn="1"/>
        </p:nvSpPr>
        <p:spPr>
          <a:xfrm>
            <a:off x="9585886" y="6065239"/>
            <a:ext cx="2425810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9453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no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AD3B1D-72DB-4260-9061-76E41FE1D502}"/>
              </a:ext>
            </a:extLst>
          </p:cNvPr>
          <p:cNvSpPr/>
          <p:nvPr userDrawn="1"/>
        </p:nvSpPr>
        <p:spPr>
          <a:xfrm>
            <a:off x="180304" y="6014434"/>
            <a:ext cx="1287888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B18C33-81FD-48A9-A28B-DA9EE1A3AF73}"/>
              </a:ext>
            </a:extLst>
          </p:cNvPr>
          <p:cNvSpPr/>
          <p:nvPr userDrawn="1"/>
        </p:nvSpPr>
        <p:spPr>
          <a:xfrm>
            <a:off x="9585886" y="6065239"/>
            <a:ext cx="2425810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10098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2876"/>
          </a:xfrm>
        </p:spPr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8" name="TextBox 7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0" name="TextBox 9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91349"/>
            <a:ext cx="10515600" cy="586080"/>
          </a:xfrm>
        </p:spPr>
        <p:txBody>
          <a:bodyPr wrap="square">
            <a:noAutofit/>
          </a:bodyPr>
          <a:lstStyle>
            <a:lvl1pPr marL="0" indent="0">
              <a:lnSpc>
                <a:spcPts val="3200"/>
              </a:lnSpc>
              <a:buNone/>
              <a:defRPr sz="3200" baseline="0">
                <a:solidFill>
                  <a:srgbClr val="EA6341"/>
                </a:solidFill>
                <a:latin typeface="+mn-lt"/>
              </a:defRPr>
            </a:lvl1pPr>
          </a:lstStyle>
          <a:p>
            <a:pPr lvl="0"/>
            <a:r>
              <a:rPr lang="nl-BE"/>
              <a:t>Subheadline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3702101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297772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297772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2756046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 + img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43002B7-1ED3-4764-AF38-52CBEC1EF8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14688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7359B44-336C-4CC5-966B-C4FFFF75CB8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414994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54910401-9E2D-48B8-B446-0695FFFC8F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91482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2888B2-4261-4C9D-A9C1-E163140815F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91789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1640F02F-E1A8-4CA3-AB99-902A7892CD6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368277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6834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3 columns with title &amp; img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43002B7-1ED3-4764-AF38-52CBEC1EF8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14688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7359B44-336C-4CC5-966B-C4FFFF75CB8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414994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54910401-9E2D-48B8-B446-0695FFFC8F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91482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2888B2-4261-4C9D-A9C1-E163140815F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91789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1640F02F-E1A8-4CA3-AB99-902A7892CD6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368277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5075F23C-744C-415F-BAC5-E57FC4831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14994" y="1798636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F4F63E8-EE5C-467B-846A-A7E1E41F44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7886" y="1800903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BF4D12B-AF98-4062-BED2-D233B0C817A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991477" y="1809417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265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7" name="TextBox 6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TextBox 12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7" name="TextBox 16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2874144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6" name="TextBox 5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8" name="TextBox 7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TextBox 11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6" name="TextBox 15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30934024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601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54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432043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140322" y="6343466"/>
            <a:ext cx="1474152" cy="216694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395318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8657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1B2944"/>
          </a:solidFill>
          <a:latin typeface="Corbel" panose="020B05030202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7"/>
        </a:buBlip>
        <a:defRPr sz="24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hyperlink" Target="https://imagej.net/plugins/bigwarp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fiji.sc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hyperlink" Target="https://www.ilastik.org/" TargetMode="External"/><Relationship Id="rId4" Type="http://schemas.openxmlformats.org/officeDocument/2006/relationships/hyperlink" Target="https://qupath.github.io/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satijalab.org/seurat/" TargetMode="External"/><Relationship Id="rId7" Type="http://schemas.openxmlformats.org/officeDocument/2006/relationships/image" Target="../media/image15.gif"/><Relationship Id="rId2" Type="http://schemas.openxmlformats.org/officeDocument/2006/relationships/hyperlink" Target="https://www.bioconductor.org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hyperlink" Target="https://pachterlab.github.io/voyager/index.html" TargetMode="External"/><Relationship Id="rId4" Type="http://schemas.openxmlformats.org/officeDocument/2006/relationships/hyperlink" Target="https://drieslab.github.io/Giotto_website/" TargetMode="External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spatialdata.scverse.org/" TargetMode="External"/><Relationship Id="rId13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hyperlink" Target="https://squidpy.readthedocs.io/" TargetMode="External"/><Relationship Id="rId12" Type="http://schemas.openxmlformats.org/officeDocument/2006/relationships/image" Target="../media/image21.svg"/><Relationship Id="rId2" Type="http://schemas.openxmlformats.org/officeDocument/2006/relationships/image" Target="../media/image18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scanpy.readthedocs.io/" TargetMode="External"/><Relationship Id="rId11" Type="http://schemas.openxmlformats.org/officeDocument/2006/relationships/image" Target="../media/image20.png"/><Relationship Id="rId5" Type="http://schemas.openxmlformats.org/officeDocument/2006/relationships/hyperlink" Target="https://anndata.readthedocs.io/" TargetMode="External"/><Relationship Id="rId15" Type="http://schemas.openxmlformats.org/officeDocument/2006/relationships/image" Target="../media/image24.png"/><Relationship Id="rId10" Type="http://schemas.openxmlformats.org/officeDocument/2006/relationships/hyperlink" Target="https://harpy.readthedocs.io/en/latest/" TargetMode="External"/><Relationship Id="rId4" Type="http://schemas.openxmlformats.org/officeDocument/2006/relationships/hyperlink" Target="https://scverse.org/" TargetMode="External"/><Relationship Id="rId9" Type="http://schemas.openxmlformats.org/officeDocument/2006/relationships/hyperlink" Target="https://sparrow-pipeline.readthedocs.io/" TargetMode="External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2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doi.org/10.1101/2024.07.04.601829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2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arpy.readthedocs.io/en/latest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3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doi.org/10.1093/bioinformatics/btag12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2191999" cy="6857997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32154" y="2823920"/>
            <a:ext cx="7461250" cy="850874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 marR="5080">
              <a:lnSpc>
                <a:spcPts val="5830"/>
              </a:lnSpc>
              <a:spcBef>
                <a:spcPts val="835"/>
              </a:spcBef>
            </a:pPr>
            <a:r>
              <a:rPr lang="en-US" sz="5400" spc="-10" dirty="0"/>
              <a:t>Introduction</a:t>
            </a:r>
            <a:endParaRPr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105F-C14C-4200-31F3-F020A11C1660}"/>
              </a:ext>
            </a:extLst>
          </p:cNvPr>
          <p:cNvSpPr txBox="1"/>
          <p:nvPr/>
        </p:nvSpPr>
        <p:spPr>
          <a:xfrm>
            <a:off x="5715000" y="6498715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24 June 2024</a:t>
            </a:r>
            <a:endParaRPr lang="en-B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1FD6D-8BB1-8904-B63A-8080E4B0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 software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E744-D2C8-3315-8D8B-908AAF9D6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FIJI: </a:t>
            </a:r>
            <a:r>
              <a:rPr lang="en-US" dirty="0">
                <a:hlinkClick r:id="rId2"/>
              </a:rPr>
              <a:t>https://fiji.sc/</a:t>
            </a:r>
            <a:endParaRPr lang="en-US" dirty="0"/>
          </a:p>
          <a:p>
            <a:r>
              <a:rPr lang="en-US" dirty="0" err="1"/>
              <a:t>BigWarp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https://imagej.net/plugins/bigwarp</a:t>
            </a:r>
            <a:endParaRPr lang="en-US" dirty="0"/>
          </a:p>
          <a:p>
            <a:r>
              <a:rPr lang="en-US" dirty="0" err="1"/>
              <a:t>Qupath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https://qupath.github.io/</a:t>
            </a:r>
            <a:endParaRPr lang="en-US" dirty="0"/>
          </a:p>
          <a:p>
            <a:r>
              <a:rPr lang="en-US" dirty="0" err="1"/>
              <a:t>Ilastik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https://www.ilastik.org/</a:t>
            </a:r>
            <a:r>
              <a:rPr lang="en-US" dirty="0"/>
              <a:t> </a:t>
            </a:r>
            <a:endParaRPr lang="en-BE" dirty="0"/>
          </a:p>
        </p:txBody>
      </p:sp>
      <p:pic>
        <p:nvPicPr>
          <p:cNvPr id="1026" name="Picture 2" descr="FIJI Image Analysis Program - Institute for Molecular Bioscience ...">
            <a:extLst>
              <a:ext uri="{FF2B5EF4-FFF2-40B4-BE49-F238E27FC236}">
                <a16:creationId xmlns:a16="http://schemas.microsoft.com/office/drawing/2014/main" id="{A2590BCC-EDF7-D0F4-CAD3-F6CB12047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8348" y="152803"/>
            <a:ext cx="2291119" cy="22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Path: Open Source Bioimage Analysis and Quantitative Pathology - CZI">
            <a:extLst>
              <a:ext uri="{FF2B5EF4-FFF2-40B4-BE49-F238E27FC236}">
                <a16:creationId xmlns:a16="http://schemas.microsoft.com/office/drawing/2014/main" id="{2C98F6AE-79BB-B1C7-07EF-72A853A6A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4928" y="2825623"/>
            <a:ext cx="2524539" cy="252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8 free open source software programs for pathology image analysis">
            <a:extLst>
              <a:ext uri="{FF2B5EF4-FFF2-40B4-BE49-F238E27FC236}">
                <a16:creationId xmlns:a16="http://schemas.microsoft.com/office/drawing/2014/main" id="{8B48F125-C169-BBDF-36ED-96D505342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7241" y="4087892"/>
            <a:ext cx="4187687" cy="261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13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252D3-0F53-15F8-3AED-B2FAD4EC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packages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F606E-074D-C099-BA01-CBDCC4F35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Bioconductor: </a:t>
            </a:r>
            <a:r>
              <a:rPr lang="en-US" dirty="0">
                <a:hlinkClick r:id="rId2"/>
              </a:rPr>
              <a:t>https://www.bioconductor.org/</a:t>
            </a:r>
            <a:endParaRPr lang="en-US" dirty="0"/>
          </a:p>
          <a:p>
            <a:r>
              <a:rPr lang="en-US" dirty="0"/>
              <a:t>Seurat: </a:t>
            </a:r>
            <a:r>
              <a:rPr lang="en-US" dirty="0">
                <a:hlinkClick r:id="rId3"/>
              </a:rPr>
              <a:t>https://satijalab.org/seurat/</a:t>
            </a:r>
            <a:r>
              <a:rPr lang="en-US" dirty="0"/>
              <a:t> </a:t>
            </a:r>
          </a:p>
          <a:p>
            <a:r>
              <a:rPr lang="en-US" dirty="0"/>
              <a:t>Giotto Suite: </a:t>
            </a:r>
            <a:r>
              <a:rPr lang="en-US" dirty="0">
                <a:hlinkClick r:id="rId4"/>
              </a:rPr>
              <a:t>https://drieslab.github.io/Giotto_website/</a:t>
            </a:r>
            <a:endParaRPr lang="en-US" dirty="0"/>
          </a:p>
          <a:p>
            <a:r>
              <a:rPr lang="en-US" dirty="0"/>
              <a:t>Voyager: </a:t>
            </a:r>
            <a:r>
              <a:rPr lang="en-US" dirty="0">
                <a:hlinkClick r:id="rId5"/>
              </a:rPr>
              <a:t>https://pachterlab.github.io/voyager/index.html</a:t>
            </a:r>
            <a:r>
              <a:rPr lang="en-US" dirty="0"/>
              <a:t> </a:t>
            </a:r>
          </a:p>
          <a:p>
            <a:r>
              <a:rPr lang="en-US" dirty="0"/>
              <a:t>… </a:t>
            </a:r>
            <a:endParaRPr lang="en-BE" dirty="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57FC958E-B40C-68EA-8CEF-3E113AA443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85817"/>
            <a:ext cx="1188321" cy="92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9" descr="Bioconductor - open source software for bioinformatics">
            <a:hlinkClick r:id="rId2"/>
            <a:extLst>
              <a:ext uri="{FF2B5EF4-FFF2-40B4-BE49-F238E27FC236}">
                <a16:creationId xmlns:a16="http://schemas.microsoft.com/office/drawing/2014/main" id="{2B82395B-09A5-B98B-53BE-660268CDF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7061" y="558766"/>
            <a:ext cx="3127600" cy="93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logo of a cube&#10;&#10;Description automatically generated">
            <a:extLst>
              <a:ext uri="{FF2B5EF4-FFF2-40B4-BE49-F238E27FC236}">
                <a16:creationId xmlns:a16="http://schemas.microsoft.com/office/drawing/2014/main" id="{F9AD5979-FF9E-BE01-0F59-A0C1684707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4473" y="3912589"/>
            <a:ext cx="2320188" cy="1251082"/>
          </a:xfrm>
          <a:prstGeom prst="rect">
            <a:avLst/>
          </a:prstGeom>
        </p:spPr>
      </p:pic>
      <p:pic>
        <p:nvPicPr>
          <p:cNvPr id="13" name="Picture 12" descr="A blue hexagon with a bridge and text&#10;&#10;Description automatically generated">
            <a:extLst>
              <a:ext uri="{FF2B5EF4-FFF2-40B4-BE49-F238E27FC236}">
                <a16:creationId xmlns:a16="http://schemas.microsoft.com/office/drawing/2014/main" id="{530060E7-5E81-B21D-AD8D-176625CB3AE1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0861" y="1827124"/>
            <a:ext cx="1642291" cy="164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338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6F513B7-FDB1-2517-63FD-BA14DA03FA79}"/>
              </a:ext>
            </a:extLst>
          </p:cNvPr>
          <p:cNvSpPr/>
          <p:nvPr/>
        </p:nvSpPr>
        <p:spPr>
          <a:xfrm>
            <a:off x="0" y="5753100"/>
            <a:ext cx="12192000" cy="1104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14" name="Picture 13" descr="A close-up of a logo&#10;&#10;Description automatically generated">
            <a:extLst>
              <a:ext uri="{FF2B5EF4-FFF2-40B4-BE49-F238E27FC236}">
                <a16:creationId xmlns:a16="http://schemas.microsoft.com/office/drawing/2014/main" id="{592D2102-78FA-E6D4-4EAE-48DD8C855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20" y="5808975"/>
            <a:ext cx="4261460" cy="989759"/>
          </a:xfrm>
          <a:prstGeom prst="rect">
            <a:avLst/>
          </a:prstGeom>
        </p:spPr>
      </p:pic>
      <p:pic>
        <p:nvPicPr>
          <p:cNvPr id="16" name="Picture 15" descr="A green bird with black text&#10;&#10;Description automatically generated">
            <a:extLst>
              <a:ext uri="{FF2B5EF4-FFF2-40B4-BE49-F238E27FC236}">
                <a16:creationId xmlns:a16="http://schemas.microsoft.com/office/drawing/2014/main" id="{3E87EC86-2BF7-9322-4F35-125C55AB4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351" y="3674587"/>
            <a:ext cx="2890962" cy="20658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7252D3-0F53-15F8-3AED-B2FAD4EC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     packages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F606E-074D-C099-BA01-CBDCC4F35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Scverse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https://scverse.org/</a:t>
            </a:r>
            <a:r>
              <a:rPr lang="en-US" dirty="0"/>
              <a:t> </a:t>
            </a:r>
          </a:p>
          <a:p>
            <a:r>
              <a:rPr lang="en-US" dirty="0" err="1"/>
              <a:t>AnnData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https://anndata.readthedocs.io/</a:t>
            </a:r>
            <a:endParaRPr lang="en-US" dirty="0"/>
          </a:p>
          <a:p>
            <a:r>
              <a:rPr lang="en-US" dirty="0" err="1"/>
              <a:t>Scanpy</a:t>
            </a:r>
            <a:r>
              <a:rPr lang="en-US" dirty="0"/>
              <a:t>: </a:t>
            </a:r>
            <a:r>
              <a:rPr lang="en-US" dirty="0">
                <a:hlinkClick r:id="rId6"/>
              </a:rPr>
              <a:t>https://scanpy.readthedocs.io/</a:t>
            </a:r>
            <a:endParaRPr lang="en-US" dirty="0"/>
          </a:p>
          <a:p>
            <a:r>
              <a:rPr lang="en-US" dirty="0" err="1"/>
              <a:t>Squidpy</a:t>
            </a:r>
            <a:r>
              <a:rPr lang="en-US" dirty="0"/>
              <a:t>: </a:t>
            </a:r>
            <a:r>
              <a:rPr lang="en-US" dirty="0">
                <a:hlinkClick r:id="rId7"/>
              </a:rPr>
              <a:t>https://squidpy.readthedocs.io/</a:t>
            </a:r>
            <a:r>
              <a:rPr lang="en-US" dirty="0"/>
              <a:t> </a:t>
            </a:r>
          </a:p>
          <a:p>
            <a:r>
              <a:rPr lang="en-US" dirty="0" err="1"/>
              <a:t>SpatialData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https://spatialdata.scverse.org</a:t>
            </a:r>
            <a:r>
              <a:rPr lang="en-US" dirty="0"/>
              <a:t> </a:t>
            </a:r>
          </a:p>
          <a:p>
            <a:r>
              <a:rPr lang="en-US" dirty="0" err="1"/>
              <a:t>SPArrOW</a:t>
            </a:r>
            <a:r>
              <a:rPr lang="en-US" dirty="0"/>
              <a:t>: </a:t>
            </a:r>
            <a:r>
              <a:rPr lang="en-US" dirty="0">
                <a:hlinkClick r:id="rId9"/>
              </a:rPr>
              <a:t>https://sparrow-pipeline.readthedocs.io/</a:t>
            </a:r>
            <a:endParaRPr lang="en-US" dirty="0"/>
          </a:p>
          <a:p>
            <a:r>
              <a:rPr lang="en-US" dirty="0"/>
              <a:t>Harpy: </a:t>
            </a:r>
            <a:r>
              <a:rPr lang="en-US" dirty="0">
                <a:hlinkClick r:id="rId10"/>
              </a:rPr>
              <a:t>https://harpy.readthedocs.io/en/latest/</a:t>
            </a:r>
            <a:endParaRPr lang="en-US" dirty="0"/>
          </a:p>
          <a:p>
            <a:r>
              <a:rPr lang="en-US" dirty="0"/>
              <a:t>… </a:t>
            </a:r>
            <a:endParaRPr lang="en-BE" dirty="0"/>
          </a:p>
          <a:p>
            <a:endParaRPr lang="en-BE" dirty="0"/>
          </a:p>
        </p:txBody>
      </p:sp>
      <p:pic>
        <p:nvPicPr>
          <p:cNvPr id="5" name="Content Placeholder 4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860288F-8ACC-C0ED-32E5-10479F56890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668" y="309114"/>
            <a:ext cx="3413760" cy="109768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B7EF775A-B5B1-0482-51AD-70A16D0B2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62548" y="2008065"/>
            <a:ext cx="1826146" cy="1780492"/>
          </a:xfrm>
          <a:prstGeom prst="rect">
            <a:avLst/>
          </a:prstGeom>
        </p:spPr>
      </p:pic>
      <p:pic>
        <p:nvPicPr>
          <p:cNvPr id="10" name="Picture 9" descr="A logo with text on it&#10;&#10;Description automatically generated">
            <a:extLst>
              <a:ext uri="{FF2B5EF4-FFF2-40B4-BE49-F238E27FC236}">
                <a16:creationId xmlns:a16="http://schemas.microsoft.com/office/drawing/2014/main" id="{8EEF519D-6250-AA47-D625-963608F58EE8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151" y="1671103"/>
            <a:ext cx="1950861" cy="860380"/>
          </a:xfrm>
          <a:prstGeom prst="rect">
            <a:avLst/>
          </a:prstGeom>
        </p:spPr>
      </p:pic>
      <p:pic>
        <p:nvPicPr>
          <p:cNvPr id="12" name="Picture 11" descr="A blue and white logo&#10;&#10;Description automatically generated">
            <a:extLst>
              <a:ext uri="{FF2B5EF4-FFF2-40B4-BE49-F238E27FC236}">
                <a16:creationId xmlns:a16="http://schemas.microsoft.com/office/drawing/2014/main" id="{94543D6E-05F1-2EDF-F316-5F6EECB3BE9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332" y="5878206"/>
            <a:ext cx="2607819" cy="860380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E2FDF96-EA38-9D6E-D39A-1E275CCDD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08" y="626659"/>
            <a:ext cx="2611724" cy="916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C3F9B8-80C9-4C54-AC95-96442C7FA5A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99040" y="5225900"/>
            <a:ext cx="1506967" cy="156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38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9784B-21BA-0B3A-395F-F0DC710DB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B9F640B-9926-A50F-E3B4-630A042309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259"/>
          <a:stretch/>
        </p:blipFill>
        <p:spPr>
          <a:xfrm>
            <a:off x="4845316" y="741956"/>
            <a:ext cx="7359210" cy="61160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C30C63-D3FD-0796-9FA7-0667FFFED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SpatialData</a:t>
            </a:r>
            <a:endParaRPr lang="en-BE" dirty="0"/>
          </a:p>
        </p:txBody>
      </p:sp>
      <p:pic>
        <p:nvPicPr>
          <p:cNvPr id="3" name="Picture 2" descr="A close-up of a logo&#10;&#10;Description automatically generated">
            <a:extLst>
              <a:ext uri="{FF2B5EF4-FFF2-40B4-BE49-F238E27FC236}">
                <a16:creationId xmlns:a16="http://schemas.microsoft.com/office/drawing/2014/main" id="{A2F9AD40-ABAF-AF90-5308-6D3152C21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569" y="529303"/>
            <a:ext cx="4293524" cy="99720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5D54EA-76A2-90C0-F8AC-425DE1A0A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1787"/>
            <a:ext cx="4184737" cy="4274256"/>
          </a:xfrm>
        </p:spPr>
        <p:txBody>
          <a:bodyPr/>
          <a:lstStyle/>
          <a:p>
            <a:r>
              <a:rPr lang="en-US" dirty="0"/>
              <a:t>Data framework that handles data storage format, access, alignment in different coordinate spaces, processing operations…</a:t>
            </a:r>
          </a:p>
          <a:p>
            <a:r>
              <a:rPr lang="en-US" dirty="0" err="1"/>
              <a:t>Napari</a:t>
            </a:r>
            <a:r>
              <a:rPr lang="en-US" dirty="0"/>
              <a:t> plugin for interactive annotation and visualization</a:t>
            </a:r>
          </a:p>
          <a:p>
            <a:endParaRPr lang="en-US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083030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CC35-0673-FFA5-E20B-5774F77D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D0A9B6C-EE4F-72C2-1534-06DA8F8791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8"/>
          <a:stretch/>
        </p:blipFill>
        <p:spPr bwMode="auto">
          <a:xfrm>
            <a:off x="6211422" y="-58851"/>
            <a:ext cx="5890932" cy="691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BB08-7627-0410-835B-A81C746C1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5455024" cy="4274256"/>
          </a:xfrm>
        </p:spPr>
        <p:txBody>
          <a:bodyPr/>
          <a:lstStyle/>
          <a:p>
            <a:r>
              <a:rPr lang="en-US" dirty="0"/>
              <a:t>Developed by Lotte Pollaris (Yvan Saeys lab) in collaboration with the VIB Spatial Catalyst</a:t>
            </a:r>
          </a:p>
          <a:p>
            <a:r>
              <a:rPr lang="en-US" dirty="0"/>
              <a:t>A flexible, interactive and scalable pipeline for targeted spatial transcriptomics analysis</a:t>
            </a:r>
            <a:endParaRPr lang="en-BE" dirty="0"/>
          </a:p>
        </p:txBody>
      </p:sp>
      <p:pic>
        <p:nvPicPr>
          <p:cNvPr id="8" name="Picture 7" descr="A person wearing glasses smiling&#10;&#10;Description automatically generated">
            <a:extLst>
              <a:ext uri="{FF2B5EF4-FFF2-40B4-BE49-F238E27FC236}">
                <a16:creationId xmlns:a16="http://schemas.microsoft.com/office/drawing/2014/main" id="{A650E000-5A1B-5C14-1180-659F046CD5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799" y="4582022"/>
            <a:ext cx="1905000" cy="1905000"/>
          </a:xfrm>
          <a:prstGeom prst="rect">
            <a:avLst/>
          </a:prstGeom>
        </p:spPr>
      </p:pic>
      <p:pic>
        <p:nvPicPr>
          <p:cNvPr id="9" name="Picture 8" descr="A green bird with black text&#10;&#10;Description automatically generated">
            <a:extLst>
              <a:ext uri="{FF2B5EF4-FFF2-40B4-BE49-F238E27FC236}">
                <a16:creationId xmlns:a16="http://schemas.microsoft.com/office/drawing/2014/main" id="{6AA5DC52-963D-9E6B-FDCC-A3E25050C2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2" r="1070" b="22211"/>
          <a:stretch/>
        </p:blipFill>
        <p:spPr>
          <a:xfrm>
            <a:off x="334050" y="370978"/>
            <a:ext cx="3190761" cy="12746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C9C55B-352D-B96D-3715-F6D6D20F9A67}"/>
              </a:ext>
            </a:extLst>
          </p:cNvPr>
          <p:cNvSpPr txBox="1"/>
          <p:nvPr/>
        </p:nvSpPr>
        <p:spPr>
          <a:xfrm>
            <a:off x="2130800" y="6487022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Lotte Pollaris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7877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64129-FEAB-65FB-6C0F-64894E94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02EE89-D58F-05EF-E384-882A4EC6575C}"/>
              </a:ext>
            </a:extLst>
          </p:cNvPr>
          <p:cNvSpPr txBox="1"/>
          <p:nvPr/>
        </p:nvSpPr>
        <p:spPr>
          <a:xfrm>
            <a:off x="116615" y="4901476"/>
            <a:ext cx="35229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/>
              <a:t>Pollaris </a:t>
            </a:r>
            <a:r>
              <a:rPr lang="en-US" sz="1200" i="1" dirty="0"/>
              <a:t>et al., </a:t>
            </a:r>
            <a:r>
              <a:rPr lang="en-US" sz="1200" dirty="0" err="1"/>
              <a:t>SPArrOW</a:t>
            </a:r>
            <a:r>
              <a:rPr lang="en-US" sz="1200" dirty="0"/>
              <a:t>: a flexible, interactive and scalable pipeline for spatial transcriptomics analysis</a:t>
            </a:r>
          </a:p>
          <a:p>
            <a:pPr>
              <a:buNone/>
            </a:pPr>
            <a:r>
              <a:rPr lang="en-US" sz="1200" dirty="0"/>
              <a:t>bioRxiv 2024.07.04.601829; </a:t>
            </a:r>
            <a:r>
              <a:rPr lang="en-US" sz="1200" dirty="0">
                <a:hlinkClick r:id="rId2"/>
              </a:rPr>
              <a:t>https://doi.org/10.1101/2024.07.04.601829</a:t>
            </a:r>
            <a:r>
              <a:rPr lang="en-US" sz="1200" dirty="0"/>
              <a:t>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D31927-5461-A8B6-1CFD-54F0391BC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595" y="101600"/>
            <a:ext cx="5197290" cy="6607113"/>
          </a:xfrm>
          <a:prstGeom prst="rect">
            <a:avLst/>
          </a:prstGeom>
        </p:spPr>
      </p:pic>
      <p:pic>
        <p:nvPicPr>
          <p:cNvPr id="7" name="Picture 6" descr="A person wearing glasses smiling&#10;&#10;Description automatically generated">
            <a:extLst>
              <a:ext uri="{FF2B5EF4-FFF2-40B4-BE49-F238E27FC236}">
                <a16:creationId xmlns:a16="http://schemas.microsoft.com/office/drawing/2014/main" id="{2E5E4DB0-D82D-8D3C-6F71-6DEC16861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3999" y="3827473"/>
            <a:ext cx="1905000" cy="1905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6FE839-757A-3BB2-264C-9F62F0039957}"/>
              </a:ext>
            </a:extLst>
          </p:cNvPr>
          <p:cNvSpPr txBox="1"/>
          <p:nvPr/>
        </p:nvSpPr>
        <p:spPr>
          <a:xfrm>
            <a:off x="9954000" y="5732473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Lotte Pollaris</a:t>
            </a:r>
            <a:endParaRPr lang="en-BE" dirty="0"/>
          </a:p>
        </p:txBody>
      </p:sp>
      <p:pic>
        <p:nvPicPr>
          <p:cNvPr id="9" name="Picture 8" descr="A green bird with black text&#10;&#10;Description automatically generated">
            <a:extLst>
              <a:ext uri="{FF2B5EF4-FFF2-40B4-BE49-F238E27FC236}">
                <a16:creationId xmlns:a16="http://schemas.microsoft.com/office/drawing/2014/main" id="{9F6EA35C-9A65-2AB5-B3F9-70F2DDAD2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2" r="1070" b="22211"/>
          <a:stretch/>
        </p:blipFill>
        <p:spPr>
          <a:xfrm>
            <a:off x="334050" y="370978"/>
            <a:ext cx="3190761" cy="12746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C60DC6F-3BA1-DD86-7A49-11E8AEB83340}"/>
              </a:ext>
            </a:extLst>
          </p:cNvPr>
          <p:cNvSpPr/>
          <p:nvPr/>
        </p:nvSpPr>
        <p:spPr>
          <a:xfrm>
            <a:off x="7599680" y="101600"/>
            <a:ext cx="1351989" cy="1351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A144FA-0C94-E210-5832-E0A37C3C6FA3}"/>
              </a:ext>
            </a:extLst>
          </p:cNvPr>
          <p:cNvSpPr/>
          <p:nvPr/>
        </p:nvSpPr>
        <p:spPr>
          <a:xfrm>
            <a:off x="6451601" y="2834640"/>
            <a:ext cx="128016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DDBD0C-3FA8-ED9E-F16D-7D5F00429361}"/>
              </a:ext>
            </a:extLst>
          </p:cNvPr>
          <p:cNvSpPr/>
          <p:nvPr/>
        </p:nvSpPr>
        <p:spPr>
          <a:xfrm>
            <a:off x="7556725" y="3039396"/>
            <a:ext cx="128016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3076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B5AB4-5545-BA3B-2E59-B7EB94CD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7B246-D005-5228-793F-F0B7BC1B5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11023600" cy="4274256"/>
          </a:xfrm>
        </p:spPr>
        <p:txBody>
          <a:bodyPr/>
          <a:lstStyle/>
          <a:p>
            <a:r>
              <a:rPr lang="en-US" dirty="0"/>
              <a:t>Developed by Benjamin Rombaut (Yvan Saeys lab) in collaboration with the VIB Spatial Catalyst</a:t>
            </a:r>
          </a:p>
          <a:p>
            <a:r>
              <a:rPr lang="en-US" dirty="0"/>
              <a:t>Broadens the capabilities of </a:t>
            </a:r>
            <a:r>
              <a:rPr lang="en-US" dirty="0" err="1"/>
              <a:t>SPArrOW</a:t>
            </a:r>
            <a:r>
              <a:rPr lang="en-US" dirty="0"/>
              <a:t> for proteomics, multi-omics, …</a:t>
            </a:r>
          </a:p>
          <a:p>
            <a:r>
              <a:rPr lang="en-US" dirty="0">
                <a:hlinkClick r:id="rId3"/>
              </a:rPr>
              <a:t>https://harpy.readthedocs.io/en/latest/</a:t>
            </a:r>
            <a:r>
              <a:rPr lang="en-US" dirty="0"/>
              <a:t> </a:t>
            </a:r>
          </a:p>
        </p:txBody>
      </p:sp>
      <p:pic>
        <p:nvPicPr>
          <p:cNvPr id="5" name="Picture 4" descr="A person smiling for a picture&#10;&#10;Description automatically generated">
            <a:extLst>
              <a:ext uri="{FF2B5EF4-FFF2-40B4-BE49-F238E27FC236}">
                <a16:creationId xmlns:a16="http://schemas.microsoft.com/office/drawing/2014/main" id="{2385FAC0-F723-DFD1-443B-85FA54CF0D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5540" y="3765555"/>
            <a:ext cx="1905000" cy="1905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3A5BB2-07AE-26A4-0C30-52082B85FD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66174"/>
            <a:ext cx="1506967" cy="15616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A02F3A-743A-9241-119C-2CB29F3E2663}"/>
              </a:ext>
            </a:extLst>
          </p:cNvPr>
          <p:cNvSpPr txBox="1"/>
          <p:nvPr/>
        </p:nvSpPr>
        <p:spPr>
          <a:xfrm>
            <a:off x="9895840" y="5670555"/>
            <a:ext cx="2044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Benjamin Rombaut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34394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7DF487-DA81-BA40-FA02-06555CE0ACB8}"/>
              </a:ext>
            </a:extLst>
          </p:cNvPr>
          <p:cNvSpPr txBox="1"/>
          <p:nvPr/>
        </p:nvSpPr>
        <p:spPr>
          <a:xfrm>
            <a:off x="2839720" y="61511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Rombaut</a:t>
            </a:r>
            <a:r>
              <a:rPr lang="en-US" sz="1200" i="1" dirty="0"/>
              <a:t> et al.</a:t>
            </a:r>
            <a:r>
              <a:rPr lang="en-US" sz="1200" dirty="0"/>
              <a:t>, Scalable analysis of whole slide spatial proteomics with Harpy, </a:t>
            </a:r>
            <a:r>
              <a:rPr lang="en-US" sz="1200" i="1" dirty="0"/>
              <a:t>Bioinformatics</a:t>
            </a:r>
            <a:r>
              <a:rPr lang="en-US" sz="1200" dirty="0"/>
              <a:t>, Volume 42, Issue 3, March 2026, </a:t>
            </a:r>
            <a:r>
              <a:rPr lang="en-US" sz="1200" dirty="0">
                <a:hlinkClick r:id="rId2"/>
              </a:rPr>
              <a:t>https://doi.org/10.1093/bioinformatics/btag122</a:t>
            </a:r>
            <a:endParaRPr lang="en-BE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ED7AC3-3926-1337-3A16-579CD390B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825" y="86360"/>
            <a:ext cx="7506350" cy="54944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4E69E2-1830-FE5D-1FB8-32BEE7FAB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6174"/>
            <a:ext cx="1506967" cy="1561655"/>
          </a:xfrm>
          <a:prstGeom prst="rect">
            <a:avLst/>
          </a:prstGeom>
        </p:spPr>
      </p:pic>
      <p:pic>
        <p:nvPicPr>
          <p:cNvPr id="10" name="Picture 9" descr="A person smiling for a picture&#10;&#10;Description automatically generated">
            <a:extLst>
              <a:ext uri="{FF2B5EF4-FFF2-40B4-BE49-F238E27FC236}">
                <a16:creationId xmlns:a16="http://schemas.microsoft.com/office/drawing/2014/main" id="{2FB82528-152F-BB40-A01B-32881EF4E6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5540" y="3765555"/>
            <a:ext cx="1905000" cy="1905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6A0A42-102E-7F7F-F231-131AE89A7484}"/>
              </a:ext>
            </a:extLst>
          </p:cNvPr>
          <p:cNvSpPr txBox="1"/>
          <p:nvPr/>
        </p:nvSpPr>
        <p:spPr>
          <a:xfrm>
            <a:off x="9895840" y="5670555"/>
            <a:ext cx="2044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Benjamin Rombaut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86527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8C69-BC66-0269-8F0D-E5C2A2A6F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A3E7E34-DADB-965A-BBD8-F2EF236DA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82" y="166174"/>
            <a:ext cx="1506967" cy="1561655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573CAC-A2D1-55AA-E1D8-BD0EFFEBB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11023600" cy="4274256"/>
          </a:xfrm>
        </p:spPr>
        <p:txBody>
          <a:bodyPr/>
          <a:lstStyle/>
          <a:p>
            <a:r>
              <a:rPr lang="en-US" b="1" dirty="0"/>
              <a:t>Features</a:t>
            </a:r>
            <a:r>
              <a:rPr lang="en-US" dirty="0"/>
              <a:t>: Image preprocessing, segmentation, shallow and deep feature extraction, data aggregation, QC, plotting, downstream, segmentation-free approaches, …</a:t>
            </a:r>
          </a:p>
          <a:p>
            <a:r>
              <a:rPr lang="en-US" b="1" dirty="0"/>
              <a:t>Integration</a:t>
            </a:r>
            <a:r>
              <a:rPr lang="en-US" dirty="0"/>
              <a:t> with state-of-the-art tools</a:t>
            </a:r>
          </a:p>
          <a:p>
            <a:r>
              <a:rPr lang="en-US" b="1" dirty="0"/>
              <a:t>Scalable</a:t>
            </a:r>
          </a:p>
          <a:p>
            <a:r>
              <a:rPr lang="en-US" b="1" dirty="0"/>
              <a:t>Multi-platform</a:t>
            </a:r>
            <a:r>
              <a:rPr lang="en-US" dirty="0"/>
              <a:t> support</a:t>
            </a:r>
          </a:p>
          <a:p>
            <a:r>
              <a:rPr lang="en-US" b="1" dirty="0"/>
              <a:t>Active</a:t>
            </a:r>
            <a:r>
              <a:rPr lang="en-US" dirty="0"/>
              <a:t> maintenance</a:t>
            </a:r>
            <a:r>
              <a:rPr lang="en-US" b="1" dirty="0"/>
              <a:t> </a:t>
            </a:r>
            <a:r>
              <a:rPr lang="en-US" dirty="0"/>
              <a:t>and development by the VIB Spatial Catalyst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85C7E4-D10A-E912-6AEB-19FB60515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Why     	        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50295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33D6E-89EE-A77A-F0DF-24981E97B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8229C7F-56E0-87F9-195A-59A4D4F12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30" y="166174"/>
            <a:ext cx="1506967" cy="156165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AB05E15-3A0F-F369-2917-59323445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napari</a:t>
            </a:r>
            <a:r>
              <a:rPr lang="en-US" dirty="0"/>
              <a:t>-    	       ?</a:t>
            </a:r>
            <a:endParaRPr lang="en-B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31587C-E238-C96F-4A9E-21702D163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285" y="2784319"/>
            <a:ext cx="6581090" cy="4073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90BA13-FDB3-B049-69E8-58651D95E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11023600" cy="4274256"/>
          </a:xfrm>
        </p:spPr>
        <p:txBody>
          <a:bodyPr/>
          <a:lstStyle/>
          <a:p>
            <a:r>
              <a:rPr lang="en-US" dirty="0"/>
              <a:t>Napari-harpy offers interactive </a:t>
            </a:r>
            <a:r>
              <a:rPr lang="en-US" b="1" dirty="0"/>
              <a:t>exploration</a:t>
            </a:r>
            <a:r>
              <a:rPr lang="en-US" dirty="0"/>
              <a:t>, </a:t>
            </a:r>
            <a:r>
              <a:rPr lang="en-US" b="1" dirty="0"/>
              <a:t>feature</a:t>
            </a:r>
            <a:r>
              <a:rPr lang="en-US" dirty="0"/>
              <a:t> </a:t>
            </a:r>
            <a:r>
              <a:rPr lang="en-US" b="1" dirty="0"/>
              <a:t>extraction</a:t>
            </a:r>
            <a:r>
              <a:rPr lang="en-US" dirty="0"/>
              <a:t> and </a:t>
            </a:r>
            <a:r>
              <a:rPr lang="en-US" b="1" dirty="0"/>
              <a:t>object</a:t>
            </a:r>
            <a:r>
              <a:rPr lang="en-US" dirty="0"/>
              <a:t> </a:t>
            </a:r>
            <a:r>
              <a:rPr lang="en-US" b="1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083577479"/>
      </p:ext>
    </p:extLst>
  </p:cSld>
  <p:clrMapOvr>
    <a:masterClrMapping/>
  </p:clrMapOvr>
</p:sld>
</file>

<file path=ppt/theme/theme1.xml><?xml version="1.0" encoding="utf-8"?>
<a:theme xmlns:a="http://schemas.openxmlformats.org/drawingml/2006/main" name="VIB_template_new">
  <a:themeElements>
    <a:clrScheme name="VIB Colours">
      <a:dk1>
        <a:srgbClr val="1B2944"/>
      </a:dk1>
      <a:lt1>
        <a:sysClr val="window" lastClr="FFFFFF"/>
      </a:lt1>
      <a:dk2>
        <a:srgbClr val="1B2944"/>
      </a:dk2>
      <a:lt2>
        <a:srgbClr val="FFFFFF"/>
      </a:lt2>
      <a:accent1>
        <a:srgbClr val="5DB7B1"/>
      </a:accent1>
      <a:accent2>
        <a:srgbClr val="5A2A82"/>
      </a:accent2>
      <a:accent3>
        <a:srgbClr val="FF681E"/>
      </a:accent3>
      <a:accent4>
        <a:srgbClr val="1B2944"/>
      </a:accent4>
      <a:accent5>
        <a:srgbClr val="7C7C7C"/>
      </a:accent5>
      <a:accent6>
        <a:srgbClr val="FFFFFF"/>
      </a:accent6>
      <a:hlink>
        <a:srgbClr val="5DB7B1"/>
      </a:hlink>
      <a:folHlink>
        <a:srgbClr val="5DB7B1"/>
      </a:folHlink>
    </a:clrScheme>
    <a:fontScheme name="VIB Theme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C318EBDD-D315-4024-9E4D-DD22272AF3B6}" vid="{5740A0BE-9644-430B-BC39-C23ABDDB42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4E55E6-A294-444F-B048-157345E60D6D}">
  <we:reference id="wa104379279" version="2.1.0.0" store="en-US" storeType="OMEX"/>
  <we:alternateReferences>
    <we:reference id="wa104379279" version="2.1.0.0" store="WA104379279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9847DCE5DA4242BD95148C56C57335" ma:contentTypeVersion="11" ma:contentTypeDescription="Create a new document." ma:contentTypeScope="" ma:versionID="11a4d453230cd4d4c2393d6801c0fce2">
  <xsd:schema xmlns:xsd="http://www.w3.org/2001/XMLSchema" xmlns:xs="http://www.w3.org/2001/XMLSchema" xmlns:p="http://schemas.microsoft.com/office/2006/metadata/properties" xmlns:ns2="d890fe46-f0b8-485b-b8f1-9d14de9b0787" xmlns:ns3="0be0113b-24d1-4772-9566-8275849eae64" targetNamespace="http://schemas.microsoft.com/office/2006/metadata/properties" ma:root="true" ma:fieldsID="cf3d9d43ccecfc68abefe444434385a8" ns2:_="" ns3:_="">
    <xsd:import namespace="d890fe46-f0b8-485b-b8f1-9d14de9b0787"/>
    <xsd:import namespace="0be0113b-24d1-4772-9566-8275849eae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90fe46-f0b8-485b-b8f1-9d14de9b07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e0113b-24d1-4772-9566-8275849eae64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AC54415-54EE-4E30-91C9-4DBD1779750F}">
  <ds:schemaRefs>
    <ds:schemaRef ds:uri="0be0113b-24d1-4772-9566-8275849eae64"/>
    <ds:schemaRef ds:uri="d890fe46-f0b8-485b-b8f1-9d14de9b07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C2ACFC8-8459-4508-8B1A-3BD20F30D0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2E8258-310D-4501-B7DC-626E24733C76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d890fe46-f0b8-485b-b8f1-9d14de9b0787"/>
    <ds:schemaRef ds:uri="0be0113b-24d1-4772-9566-8275849eae64"/>
    <ds:schemaRef ds:uri="http://schemas.microsoft.com/office/2006/documentManagement/type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VIB_PPT_newtemplate.potx</Template>
  <TotalTime>3520</TotalTime>
  <Words>402</Words>
  <Application>Microsoft Office PowerPoint</Application>
  <PresentationFormat>Widescreen</PresentationFormat>
  <Paragraphs>49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Corbel</vt:lpstr>
      <vt:lpstr>VIB_template_new</vt:lpstr>
      <vt:lpstr>Introduction</vt:lpstr>
      <vt:lpstr>GUI software</vt:lpstr>
      <vt:lpstr>           packages</vt:lpstr>
      <vt:lpstr>Python      packages</vt:lpstr>
      <vt:lpstr>SpatialData</vt:lpstr>
      <vt:lpstr>PowerPoint Presentation</vt:lpstr>
      <vt:lpstr>PowerPoint Presentation</vt:lpstr>
      <vt:lpstr>PowerPoint Presentation</vt:lpstr>
      <vt:lpstr>PowerPoint Presentation</vt:lpstr>
      <vt:lpstr>Why              ?</vt:lpstr>
      <vt:lpstr>Why napari-           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Katrina Wright | VIB |</dc:creator>
  <cp:lastModifiedBy>Julien Mortier</cp:lastModifiedBy>
  <cp:revision>969</cp:revision>
  <cp:lastPrinted>2022-09-21T07:46:50Z</cp:lastPrinted>
  <dcterms:created xsi:type="dcterms:W3CDTF">2016-10-14T10:10:52Z</dcterms:created>
  <dcterms:modified xsi:type="dcterms:W3CDTF">2026-06-15T08:21:10Z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0x010100929847DCE5DA4242BD95148C56C57335</vt:lpwstr>
  </property>
  <property fmtid="{D5CDD505-2E9C-101B-9397-08002B2CF9AE}" pid="3" name="SPOCTopic">
    <vt:lpwstr>2;#Communication at VIB|ec6637b6-7d77-48dd-8d1a-e5ad5a42a5b7</vt:lpwstr>
  </property>
  <property fmtid="{D5CDD505-2E9C-101B-9397-08002B2CF9AE}" pid="4" name="SPOCLanguage">
    <vt:lpwstr>13;#English|cf1ccf97-a177-4e56-a5ce-0b376d8acdb5</vt:lpwstr>
  </property>
  <property fmtid="{D5CDD505-2E9C-101B-9397-08002B2CF9AE}" pid="5" name="SPOCDocType">
    <vt:lpwstr>14;#Presentation|8e68f16f-19a2-445e-867d-5034e2efae7a</vt:lpwstr>
  </property>
  <property fmtid="{D5CDD505-2E9C-101B-9397-08002B2CF9AE}" pid="6" name="MediaServiceImageTags">
    <vt:lpwstr/>
  </property>
</Properties>
</file>