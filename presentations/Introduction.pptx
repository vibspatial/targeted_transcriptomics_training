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3" r:id="rId4"/>
  </p:sldMasterIdLst>
  <p:notesMasterIdLst>
    <p:notesMasterId r:id="rId14"/>
  </p:notesMasterIdLst>
  <p:sldIdLst>
    <p:sldId id="256" r:id="rId5"/>
    <p:sldId id="6004" r:id="rId6"/>
    <p:sldId id="5974" r:id="rId7"/>
    <p:sldId id="5973" r:id="rId8"/>
    <p:sldId id="5997" r:id="rId9"/>
    <p:sldId id="5988" r:id="rId10"/>
    <p:sldId id="5998" r:id="rId11"/>
    <p:sldId id="6003" r:id="rId12"/>
    <p:sldId id="6002" r:id="rId13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38" userDrawn="1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213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4E1591D-F497-9D0E-3616-FF930E61177E}" name="Alexander Botzki" initials="AB" userId="S::alexander.botzki@vib.be::d7241705-a0f8-431d-a24f-4665cb7fed3a" providerId="AD"/>
  <p188:author id="{BF8C23A8-0B85-B7B0-AF9B-F6E627760792}" name="Nele Vlaminck" initials="NV" userId="S::nele.vlaminck@vib.be::96129d26-d504-454e-983f-b2195f5800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velien Van Hamme" initials="EVH" lastIdx="0" clrIdx="0">
    <p:extLst>
      <p:ext uri="{19B8F6BF-5375-455C-9EA6-DF929625EA0E}">
        <p15:presenceInfo xmlns:p15="http://schemas.microsoft.com/office/powerpoint/2012/main" userId="S-1-5-21-3090467761-1269783873-757627579-100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303"/>
    <a:srgbClr val="7EB5B2"/>
    <a:srgbClr val="017397"/>
    <a:srgbClr val="111111"/>
    <a:srgbClr val="5F5F5F"/>
    <a:srgbClr val="A9A9A9"/>
    <a:srgbClr val="8D8D8D"/>
    <a:srgbClr val="EEEEEE"/>
    <a:srgbClr val="A6A6A6"/>
    <a:srgbClr val="8787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524" autoAdjust="0"/>
    <p:restoredTop sz="93904" autoAdjust="0"/>
  </p:normalViewPr>
  <p:slideViewPr>
    <p:cSldViewPr snapToGrid="0">
      <p:cViewPr varScale="1">
        <p:scale>
          <a:sx n="119" d="100"/>
          <a:sy n="119" d="100"/>
        </p:scale>
        <p:origin x="376" y="184"/>
      </p:cViewPr>
      <p:guideLst>
        <p:guide orient="horz" pos="1638"/>
        <p:guide pos="3840"/>
        <p:guide orient="horz" pos="2137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29C7F0-BA7D-9948-8BFA-F6142ACAC9C0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22120-CC29-A446-B41C-EE0DB8197C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5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3CAC51E-12A2-4307-B327-0CB7D8F3EBA4}" type="slidenum">
              <a:rPr lang="en-BE" smtClean="0"/>
              <a:t>1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554158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43362-E9CE-04ED-D2B4-EF6C1F281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5A14D6-BFB2-FEF9-4F62-41DDB3E5E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30FC46-607C-7C3C-1719-30CBFDEFDE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4F1F07-AA0A-BE84-3716-7F342135E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E2444-01A2-9F4B-8D8D-34A9B820597E}" type="slidenum">
              <a:rPr lang="en-BE" smtClean="0"/>
              <a:t>5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5559851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4B505-A08A-F015-7FDD-F53B32A7D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CBCE9A-668F-6E27-8588-35F2F163B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16950E-48BC-CBF8-9DBF-B8105E3E08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BAF7B2-B8E1-103F-9881-0E74E7A083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CE2444-01A2-9F4B-8D8D-34A9B820597E}" type="slidenum">
              <a:rPr lang="en-BE" smtClean="0"/>
              <a:t>6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7300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225228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026338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039181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788764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0030852" y="6050735"/>
            <a:ext cx="1474152" cy="216694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996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3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48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3460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491890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Tag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A03FFD-18F2-42F7-B64A-5987417DF5A7}"/>
              </a:ext>
            </a:extLst>
          </p:cNvPr>
          <p:cNvSpPr/>
          <p:nvPr userDrawn="1"/>
        </p:nvSpPr>
        <p:spPr>
          <a:xfrm>
            <a:off x="9585886" y="6065239"/>
            <a:ext cx="2425810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169453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no log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CAD3B1D-72DB-4260-9061-76E41FE1D502}"/>
              </a:ext>
            </a:extLst>
          </p:cNvPr>
          <p:cNvSpPr/>
          <p:nvPr userDrawn="1"/>
        </p:nvSpPr>
        <p:spPr>
          <a:xfrm>
            <a:off x="180304" y="6014434"/>
            <a:ext cx="1287888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18C33-81FD-48A9-A28B-DA9EE1A3AF73}"/>
              </a:ext>
            </a:extLst>
          </p:cNvPr>
          <p:cNvSpPr/>
          <p:nvPr userDrawn="1"/>
        </p:nvSpPr>
        <p:spPr>
          <a:xfrm>
            <a:off x="9585886" y="6065239"/>
            <a:ext cx="2425810" cy="70704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710098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2876"/>
          </a:xfrm>
        </p:spPr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1787"/>
            <a:ext cx="10515600" cy="4274256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0" name="TextBox 9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6" name="TextBox 15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91349"/>
            <a:ext cx="10515600" cy="586080"/>
          </a:xfrm>
        </p:spPr>
        <p:txBody>
          <a:bodyPr wrap="square">
            <a:noAutofit/>
          </a:bodyPr>
          <a:lstStyle>
            <a:lvl1pPr marL="0" indent="0">
              <a:lnSpc>
                <a:spcPts val="3200"/>
              </a:lnSpc>
              <a:buNone/>
              <a:defRPr sz="3200" baseline="0">
                <a:solidFill>
                  <a:srgbClr val="EA6341"/>
                </a:solidFill>
                <a:latin typeface="+mn-lt"/>
              </a:defRPr>
            </a:lvl1pPr>
          </a:lstStyle>
          <a:p>
            <a:pPr lvl="0"/>
            <a:r>
              <a:rPr lang="nl-BE"/>
              <a:t>Subheadline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3702101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297772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297772"/>
          </a:xfrm>
        </p:spPr>
        <p:txBody>
          <a:bodyPr>
            <a:noAutofit/>
          </a:bodyPr>
          <a:lstStyle>
            <a:lvl1pPr marL="228600" indent="-228600">
              <a:buClr>
                <a:srgbClr val="FF681E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756046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3 columns + img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359B44-336C-4CC5-966B-C4FFFF75C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14994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72888B2-4261-4C9D-A9C1-E163140815F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91789" y="1799179"/>
            <a:ext cx="3362011" cy="4324218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976834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3 columns with title &amp; img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11" name="TextBox 10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7" name="TextBox 16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9" name="TextBox 18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43002B7-1ED3-4764-AF38-52CBEC1EF80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214688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47359B44-336C-4CC5-966B-C4FFFF75CB8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414994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3" name="Picture Placeholder 5">
            <a:extLst>
              <a:ext uri="{FF2B5EF4-FFF2-40B4-BE49-F238E27FC236}">
                <a16:creationId xmlns:a16="http://schemas.microsoft.com/office/drawing/2014/main" id="{54910401-9E2D-48B8-B446-0695FFFC8F9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791482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372888B2-4261-4C9D-A9C1-E163140815F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91789" y="2731497"/>
            <a:ext cx="3362011" cy="3391899"/>
          </a:xfrm>
        </p:spPr>
        <p:txBody>
          <a:bodyPr>
            <a:noAutofit/>
          </a:bodyPr>
          <a:lstStyle>
            <a:lvl1pPr marL="457200" indent="-457200">
              <a:buClr>
                <a:srgbClr val="FF681E"/>
              </a:buClr>
              <a:buFont typeface="Arial" panose="020B0604020202020204" pitchFamily="34" charset="0"/>
              <a:buChar char="•"/>
              <a:defRPr sz="2400">
                <a:solidFill>
                  <a:srgbClr val="1B2944"/>
                </a:solidFill>
                <a:latin typeface="Corbel" panose="020B0503020204020204" pitchFamily="34" charset="0"/>
              </a:defRPr>
            </a:lvl1pPr>
            <a:lvl2pPr marL="685800" indent="-228600">
              <a:buClr>
                <a:srgbClr val="7C7C7C"/>
              </a:buClr>
              <a:buFontTx/>
              <a:buBlip>
                <a:blip r:embed="rId2"/>
              </a:buBlip>
              <a:defRPr sz="2200">
                <a:solidFill>
                  <a:srgbClr val="1B2944"/>
                </a:solidFill>
                <a:latin typeface="Corbel" panose="020B0503020204020204" pitchFamily="34" charset="0"/>
              </a:defRPr>
            </a:lvl2pPr>
            <a:lvl3pPr marL="11430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3pPr>
            <a:lvl4pPr marL="16002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4pPr>
            <a:lvl5pPr marL="2057400" indent="-228600">
              <a:buClr>
                <a:srgbClr val="7C7C7C"/>
              </a:buClr>
              <a:buFont typeface="Arial" panose="020B0604020202020204" pitchFamily="34" charset="0"/>
              <a:buChar char="•"/>
              <a:defRPr>
                <a:solidFill>
                  <a:srgbClr val="1B2944"/>
                </a:solidFill>
                <a:latin typeface="Corbel" panose="020B0503020204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25" name="Picture Placeholder 5">
            <a:extLst>
              <a:ext uri="{FF2B5EF4-FFF2-40B4-BE49-F238E27FC236}">
                <a16:creationId xmlns:a16="http://schemas.microsoft.com/office/drawing/2014/main" id="{1640F02F-E1A8-4CA3-AB99-902A7892CD6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368277" y="1799179"/>
            <a:ext cx="985837" cy="912813"/>
          </a:xfrm>
        </p:spPr>
        <p:txBody>
          <a:bodyPr>
            <a:normAutofit/>
          </a:bodyPr>
          <a:lstStyle>
            <a:lvl1pPr>
              <a:defRPr sz="1200"/>
            </a:lvl1pPr>
          </a:lstStyle>
          <a:p>
            <a:r>
              <a:rPr lang="en-US"/>
              <a:t>Click icon to add picture</a:t>
            </a:r>
            <a:endParaRPr lang="nl-BE"/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5075F23C-744C-415F-BAC5-E57FC4831B6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14994" y="1798636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4F63E8-EE5C-467B-846A-A7E1E41F44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7886" y="1800903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BF4D12B-AF98-4062-BED2-D233B0C817A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91477" y="1809417"/>
            <a:ext cx="2267160" cy="903376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26573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>
                <a:solidFill>
                  <a:srgbClr val="1B294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7" name="TextBox 6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9" name="TextBox 8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3" name="TextBox 12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4" name="Rectangle 13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5" name="TextBox 14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7" name="TextBox 16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2874144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760248" y="333989"/>
            <a:ext cx="975163" cy="780130"/>
          </a:xfrm>
          <a:prstGeom prst="rect">
            <a:avLst/>
          </a:prstGeom>
          <a:solidFill>
            <a:srgbClr val="FF681E"/>
          </a:solidFill>
        </p:spPr>
      </p:pic>
      <p:sp>
        <p:nvSpPr>
          <p:cNvPr id="6" name="TextBox 5"/>
          <p:cNvSpPr txBox="1"/>
          <p:nvPr userDrawn="1"/>
        </p:nvSpPr>
        <p:spPr>
          <a:xfrm>
            <a:off x="-2359859" y="1138001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R:255 G:104 30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1760250" y="1571312"/>
            <a:ext cx="975165" cy="780132"/>
          </a:xfrm>
          <a:prstGeom prst="rect">
            <a:avLst/>
          </a:prstGeom>
          <a:solidFill>
            <a:srgbClr val="5A2A82"/>
          </a:solidFill>
        </p:spPr>
      </p:pic>
      <p:sp>
        <p:nvSpPr>
          <p:cNvPr id="8" name="TextBox 7"/>
          <p:cNvSpPr txBox="1"/>
          <p:nvPr userDrawn="1"/>
        </p:nvSpPr>
        <p:spPr>
          <a:xfrm>
            <a:off x="-2359859" y="2362165"/>
            <a:ext cx="1899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R:90 G:42 B:130</a:t>
            </a:r>
          </a:p>
        </p:txBody>
      </p:sp>
      <p:sp>
        <p:nvSpPr>
          <p:cNvPr id="11" name="Rectangle 10"/>
          <p:cNvSpPr/>
          <p:nvPr userDrawn="1"/>
        </p:nvSpPr>
        <p:spPr>
          <a:xfrm>
            <a:off x="-1760248" y="5541279"/>
            <a:ext cx="988564" cy="790853"/>
          </a:xfrm>
          <a:prstGeom prst="rect">
            <a:avLst/>
          </a:prstGeom>
          <a:solidFill>
            <a:srgbClr val="7C7C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2" name="TextBox 11"/>
          <p:cNvSpPr txBox="1"/>
          <p:nvPr userDrawn="1"/>
        </p:nvSpPr>
        <p:spPr>
          <a:xfrm>
            <a:off x="-2419436" y="6352143"/>
            <a:ext cx="2131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R:124 G:124 </a:t>
            </a:r>
            <a:r>
              <a:rPr lang="nl-BE" baseline="0"/>
              <a:t> </a:t>
            </a:r>
            <a:r>
              <a:rPr lang="nl-BE"/>
              <a:t>B:124</a:t>
            </a:r>
          </a:p>
        </p:txBody>
      </p:sp>
      <p:sp>
        <p:nvSpPr>
          <p:cNvPr id="13" name="Rectangle 12"/>
          <p:cNvSpPr/>
          <p:nvPr userDrawn="1"/>
        </p:nvSpPr>
        <p:spPr>
          <a:xfrm>
            <a:off x="-1773649" y="4203052"/>
            <a:ext cx="988564" cy="790853"/>
          </a:xfrm>
          <a:prstGeom prst="rect">
            <a:avLst/>
          </a:prstGeom>
          <a:solidFill>
            <a:srgbClr val="1B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14" name="TextBox 13"/>
          <p:cNvSpPr txBox="1"/>
          <p:nvPr userDrawn="1"/>
        </p:nvSpPr>
        <p:spPr>
          <a:xfrm>
            <a:off x="-2293435" y="5011581"/>
            <a:ext cx="18191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R:27 G:41 </a:t>
            </a:r>
            <a:r>
              <a:rPr lang="nl-BE" baseline="0"/>
              <a:t> </a:t>
            </a:r>
            <a:r>
              <a:rPr lang="nl-BE"/>
              <a:t>B:68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760250" y="2864513"/>
            <a:ext cx="988566" cy="790853"/>
          </a:xfrm>
          <a:prstGeom prst="rect">
            <a:avLst/>
          </a:prstGeom>
          <a:solidFill>
            <a:srgbClr val="42B7BA"/>
          </a:solidFill>
        </p:spPr>
      </p:pic>
      <p:sp>
        <p:nvSpPr>
          <p:cNvPr id="16" name="TextBox 15"/>
          <p:cNvSpPr txBox="1"/>
          <p:nvPr userDrawn="1"/>
        </p:nvSpPr>
        <p:spPr>
          <a:xfrm>
            <a:off x="-2359859" y="3655366"/>
            <a:ext cx="20124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BE"/>
              <a:t>R:66 G:183</a:t>
            </a:r>
            <a:r>
              <a:rPr lang="nl-BE" baseline="0"/>
              <a:t> </a:t>
            </a:r>
            <a:r>
              <a:rPr lang="nl-BE"/>
              <a:t>B:186</a:t>
            </a:r>
          </a:p>
        </p:txBody>
      </p:sp>
    </p:spTree>
    <p:extLst>
      <p:ext uri="{BB962C8B-B14F-4D97-AF65-F5344CB8AC3E}">
        <p14:creationId xmlns:p14="http://schemas.microsoft.com/office/powerpoint/2010/main" val="30934024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060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454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7702" y="1276473"/>
            <a:ext cx="9418642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4301" y="3756148"/>
            <a:ext cx="9432043" cy="822817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Corbel" panose="020B0503020204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BE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8047664" y="6343466"/>
            <a:ext cx="3617360" cy="221987"/>
          </a:xfrm>
        </p:spPr>
        <p:txBody>
          <a:bodyPr>
            <a:norm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Presenter</a:t>
            </a:r>
            <a:endParaRPr lang="nl-BE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140322" y="6343466"/>
            <a:ext cx="1474152" cy="216694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nl-BE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395318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B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nl-B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B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B1E3F558-74D7-4DE7-865B-0F3399673619}" type="slidenum">
              <a:rPr lang="nl-BE" smtClean="0"/>
              <a:pPr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538657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1B2944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24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1B2944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hyperlink" Target="https://imagej.net/plugins/bigwarp" TargetMode="External"/><Relationship Id="rId7" Type="http://schemas.openxmlformats.org/officeDocument/2006/relationships/hyperlink" Target="https://github.com/vibspatial/napari-harpy" TargetMode="External"/><Relationship Id="rId12" Type="http://schemas.openxmlformats.org/officeDocument/2006/relationships/image" Target="../media/image15.png"/><Relationship Id="rId2" Type="http://schemas.openxmlformats.org/officeDocument/2006/relationships/hyperlink" Target="https://fiji.sc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napari.org/" TargetMode="External"/><Relationship Id="rId11" Type="http://schemas.openxmlformats.org/officeDocument/2006/relationships/image" Target="../media/image14.svg"/><Relationship Id="rId5" Type="http://schemas.openxmlformats.org/officeDocument/2006/relationships/hyperlink" Target="https://www.ilastik.org/" TargetMode="External"/><Relationship Id="rId10" Type="http://schemas.openxmlformats.org/officeDocument/2006/relationships/image" Target="../media/image13.jpeg"/><Relationship Id="rId4" Type="http://schemas.openxmlformats.org/officeDocument/2006/relationships/hyperlink" Target="https://qupath.github.io/" TargetMode="External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hyperlink" Target="https://satijalab.org/seurat/" TargetMode="External"/><Relationship Id="rId7" Type="http://schemas.openxmlformats.org/officeDocument/2006/relationships/image" Target="../media/image17.gif"/><Relationship Id="rId2" Type="http://schemas.openxmlformats.org/officeDocument/2006/relationships/hyperlink" Target="https://www.bioconductor.org/" TargetMode="Externa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5" Type="http://schemas.openxmlformats.org/officeDocument/2006/relationships/hyperlink" Target="https://pachterlab.github.io/voyager/index.html" TargetMode="External"/><Relationship Id="rId4" Type="http://schemas.openxmlformats.org/officeDocument/2006/relationships/hyperlink" Target="https://drieslab.github.io/Giotto_website/" TargetMode="External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harpy.readthedocs.io/en/latest/" TargetMode="External"/><Relationship Id="rId13" Type="http://schemas.openxmlformats.org/officeDocument/2006/relationships/image" Target="../media/image25.png"/><Relationship Id="rId3" Type="http://schemas.openxmlformats.org/officeDocument/2006/relationships/hyperlink" Target="https://scverse.org/" TargetMode="External"/><Relationship Id="rId7" Type="http://schemas.openxmlformats.org/officeDocument/2006/relationships/hyperlink" Target="https://spatialdata.scverse.org/" TargetMode="External"/><Relationship Id="rId12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squidpy.readthedocs.io/" TargetMode="External"/><Relationship Id="rId11" Type="http://schemas.openxmlformats.org/officeDocument/2006/relationships/image" Target="../media/image23.png"/><Relationship Id="rId5" Type="http://schemas.openxmlformats.org/officeDocument/2006/relationships/hyperlink" Target="https://scanpy.readthedocs.io/" TargetMode="External"/><Relationship Id="rId10" Type="http://schemas.openxmlformats.org/officeDocument/2006/relationships/image" Target="../media/image22.svg"/><Relationship Id="rId4" Type="http://schemas.openxmlformats.org/officeDocument/2006/relationships/hyperlink" Target="https://anndata.readthedocs.io/" TargetMode="External"/><Relationship Id="rId9" Type="http://schemas.openxmlformats.org/officeDocument/2006/relationships/image" Target="../media/image21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arpy.readthedocs.io/en/latest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doi.org/10.1093/bioinformatics/btag122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12191999" cy="685799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32154" y="2823920"/>
            <a:ext cx="7461250" cy="850874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2700" marR="5080">
              <a:lnSpc>
                <a:spcPts val="5830"/>
              </a:lnSpc>
              <a:spcBef>
                <a:spcPts val="835"/>
              </a:spcBef>
            </a:pPr>
            <a:r>
              <a:rPr lang="en-US" sz="5400" spc="-10" dirty="0"/>
              <a:t>Introduction</a:t>
            </a:r>
            <a:endParaRPr sz="5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B4105F-C14C-4200-31F3-F020A11C1660}"/>
              </a:ext>
            </a:extLst>
          </p:cNvPr>
          <p:cNvSpPr txBox="1"/>
          <p:nvPr/>
        </p:nvSpPr>
        <p:spPr>
          <a:xfrm>
            <a:off x="5715000" y="6498715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24 June 2024</a:t>
            </a:r>
            <a:endParaRPr lang="en-BE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1FD6D-8BB1-8904-B63A-8080E4B02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GUI software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0E744-D2C8-3315-8D8B-908AAF9D6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FIJI: </a:t>
            </a:r>
            <a:r>
              <a:rPr lang="en-US" dirty="0">
                <a:hlinkClick r:id="rId2"/>
              </a:rPr>
              <a:t>https://fiji.sc/</a:t>
            </a:r>
            <a:endParaRPr lang="en-US" dirty="0"/>
          </a:p>
          <a:p>
            <a:r>
              <a:rPr lang="en-US" dirty="0" err="1"/>
              <a:t>BigWarp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https://imagej.net/plugins/bigwarp</a:t>
            </a:r>
            <a:endParaRPr lang="en-US" dirty="0"/>
          </a:p>
          <a:p>
            <a:r>
              <a:rPr lang="en-US" dirty="0" err="1"/>
              <a:t>Qupath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https://qupath.github.io/</a:t>
            </a:r>
            <a:endParaRPr lang="en-US" dirty="0"/>
          </a:p>
          <a:p>
            <a:r>
              <a:rPr lang="en-US" dirty="0" err="1"/>
              <a:t>Ilastik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https://www.ilastik.org/</a:t>
            </a:r>
            <a:r>
              <a:rPr lang="en-US" dirty="0"/>
              <a:t> </a:t>
            </a:r>
          </a:p>
          <a:p>
            <a:r>
              <a:rPr lang="en-US" dirty="0"/>
              <a:t>Napari: </a:t>
            </a:r>
            <a:r>
              <a:rPr lang="en-US" dirty="0">
                <a:hlinkClick r:id="rId6"/>
              </a:rPr>
              <a:t>https://napari.org</a:t>
            </a:r>
            <a:r>
              <a:rPr lang="en-US" dirty="0"/>
              <a:t> </a:t>
            </a:r>
          </a:p>
          <a:p>
            <a:r>
              <a:rPr lang="en-US" dirty="0"/>
              <a:t>Harpy: </a:t>
            </a:r>
            <a:r>
              <a:rPr lang="en-US" dirty="0">
                <a:hlinkClick r:id="rId7"/>
              </a:rPr>
              <a:t>https://github.com/vibspatial/napari-harpy</a:t>
            </a:r>
            <a:r>
              <a:rPr lang="en-US" dirty="0"/>
              <a:t> </a:t>
            </a:r>
          </a:p>
          <a:p>
            <a:pPr marL="0" indent="0">
              <a:buNone/>
            </a:pPr>
            <a:endParaRPr lang="en-BE" dirty="0"/>
          </a:p>
        </p:txBody>
      </p:sp>
      <p:pic>
        <p:nvPicPr>
          <p:cNvPr id="1026" name="Picture 2" descr="FIJI Image Analysis Program - Institute for Molecular Bioscience ...">
            <a:extLst>
              <a:ext uri="{FF2B5EF4-FFF2-40B4-BE49-F238E27FC236}">
                <a16:creationId xmlns:a16="http://schemas.microsoft.com/office/drawing/2014/main" id="{A2590BCC-EDF7-D0F4-CAD3-F6CB12047F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7074" y="1328024"/>
            <a:ext cx="1027526" cy="1027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QuPath: Open Source Bioimage Analysis and Quantitative Pathology - CZI">
            <a:extLst>
              <a:ext uri="{FF2B5EF4-FFF2-40B4-BE49-F238E27FC236}">
                <a16:creationId xmlns:a16="http://schemas.microsoft.com/office/drawing/2014/main" id="{2C98F6AE-79BB-B1C7-07EF-72A853A6A8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4927" y="1998325"/>
            <a:ext cx="1138915" cy="113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8 free open source software programs for pathology image analysis">
            <a:extLst>
              <a:ext uri="{FF2B5EF4-FFF2-40B4-BE49-F238E27FC236}">
                <a16:creationId xmlns:a16="http://schemas.microsoft.com/office/drawing/2014/main" id="{8B48F125-C169-BBDF-36ED-96D5053423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840000"/>
            <a:ext cx="1822265" cy="1138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724C0F35-F1A5-5179-DC59-90BE1A28D8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760794" y="3558077"/>
            <a:ext cx="841675" cy="8416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B1D5FF-B548-3676-4B76-94B5250AAD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0171" y="4073282"/>
            <a:ext cx="1067963" cy="1106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30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252D3-0F53-15F8-3AED-B2FAD4EC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         packages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606E-074D-C099-BA01-CBDCC4F35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Bioconductor: </a:t>
            </a:r>
            <a:r>
              <a:rPr lang="en-US" dirty="0">
                <a:hlinkClick r:id="rId2"/>
              </a:rPr>
              <a:t>https://www.bioconductor.org/</a:t>
            </a:r>
            <a:endParaRPr lang="en-US" dirty="0"/>
          </a:p>
          <a:p>
            <a:r>
              <a:rPr lang="en-US" dirty="0"/>
              <a:t>Seurat: </a:t>
            </a:r>
            <a:r>
              <a:rPr lang="en-US" dirty="0">
                <a:hlinkClick r:id="rId3"/>
              </a:rPr>
              <a:t>https://satijalab.org/seurat/</a:t>
            </a:r>
            <a:r>
              <a:rPr lang="en-US" dirty="0"/>
              <a:t> </a:t>
            </a:r>
          </a:p>
          <a:p>
            <a:r>
              <a:rPr lang="en-US" dirty="0"/>
              <a:t>Giotto Suite: </a:t>
            </a:r>
            <a:r>
              <a:rPr lang="en-US" dirty="0">
                <a:hlinkClick r:id="rId4"/>
              </a:rPr>
              <a:t>https://drieslab.github.io/Giotto_website/</a:t>
            </a:r>
            <a:endParaRPr lang="en-US" dirty="0"/>
          </a:p>
          <a:p>
            <a:r>
              <a:rPr lang="en-US" dirty="0"/>
              <a:t>Voyager: </a:t>
            </a:r>
            <a:r>
              <a:rPr lang="en-US" dirty="0">
                <a:hlinkClick r:id="rId5"/>
              </a:rPr>
              <a:t>https://pachterlab.github.io/voyager/index.html</a:t>
            </a:r>
            <a:r>
              <a:rPr lang="en-US" dirty="0"/>
              <a:t> </a:t>
            </a:r>
          </a:p>
          <a:p>
            <a:r>
              <a:rPr lang="en-US" dirty="0"/>
              <a:t>… </a:t>
            </a:r>
            <a:endParaRPr lang="en-BE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57FC958E-B40C-68EA-8CEF-3E113AA44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485817"/>
            <a:ext cx="1188321" cy="920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9" descr="Bioconductor - open source software for bioinformatics">
            <a:hlinkClick r:id="rId2"/>
            <a:extLst>
              <a:ext uri="{FF2B5EF4-FFF2-40B4-BE49-F238E27FC236}">
                <a16:creationId xmlns:a16="http://schemas.microsoft.com/office/drawing/2014/main" id="{2B82395B-09A5-B98B-53BE-660268CDF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7061" y="558766"/>
            <a:ext cx="3127600" cy="938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logo of a cube&#10;&#10;Description automatically generated">
            <a:extLst>
              <a:ext uri="{FF2B5EF4-FFF2-40B4-BE49-F238E27FC236}">
                <a16:creationId xmlns:a16="http://schemas.microsoft.com/office/drawing/2014/main" id="{F9AD5979-FF9E-BE01-0F59-A0C16847077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4473" y="3912589"/>
            <a:ext cx="2320188" cy="1251082"/>
          </a:xfrm>
          <a:prstGeom prst="rect">
            <a:avLst/>
          </a:prstGeom>
        </p:spPr>
      </p:pic>
      <p:pic>
        <p:nvPicPr>
          <p:cNvPr id="13" name="Picture 12" descr="A blue hexagon with a bridge and text&#10;&#10;Description automatically generated">
            <a:extLst>
              <a:ext uri="{FF2B5EF4-FFF2-40B4-BE49-F238E27FC236}">
                <a16:creationId xmlns:a16="http://schemas.microsoft.com/office/drawing/2014/main" id="{530060E7-5E81-B21D-AD8D-176625CB3AE1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0861" y="1827124"/>
            <a:ext cx="1642291" cy="164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33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6F513B7-FDB1-2517-63FD-BA14DA03FA79}"/>
              </a:ext>
            </a:extLst>
          </p:cNvPr>
          <p:cNvSpPr/>
          <p:nvPr/>
        </p:nvSpPr>
        <p:spPr>
          <a:xfrm>
            <a:off x="0" y="5753100"/>
            <a:ext cx="12192000" cy="1104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14" name="Picture 13" descr="A close-up of a logo&#10;&#10;Description automatically generated">
            <a:extLst>
              <a:ext uri="{FF2B5EF4-FFF2-40B4-BE49-F238E27FC236}">
                <a16:creationId xmlns:a16="http://schemas.microsoft.com/office/drawing/2014/main" id="{592D2102-78FA-E6D4-4EAE-48DD8C855B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520" y="5808975"/>
            <a:ext cx="4261460" cy="98975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7252D3-0F53-15F8-3AED-B2FAD4EC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     packages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F606E-074D-C099-BA01-CBDCC4F35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Scverse</a:t>
            </a:r>
            <a:r>
              <a:rPr lang="en-US" dirty="0"/>
              <a:t>: </a:t>
            </a:r>
            <a:r>
              <a:rPr lang="en-US" dirty="0">
                <a:hlinkClick r:id="rId3"/>
              </a:rPr>
              <a:t>https://scverse.org/</a:t>
            </a:r>
            <a:r>
              <a:rPr lang="en-US" dirty="0"/>
              <a:t> </a:t>
            </a:r>
          </a:p>
          <a:p>
            <a:r>
              <a:rPr lang="en-US" dirty="0" err="1"/>
              <a:t>AnnData</a:t>
            </a:r>
            <a:r>
              <a:rPr lang="en-US" dirty="0"/>
              <a:t>: </a:t>
            </a:r>
            <a:r>
              <a:rPr lang="en-US" dirty="0">
                <a:hlinkClick r:id="rId4"/>
              </a:rPr>
              <a:t>https://anndata.readthedocs.io/</a:t>
            </a:r>
            <a:endParaRPr lang="en-US" dirty="0"/>
          </a:p>
          <a:p>
            <a:r>
              <a:rPr lang="en-US" dirty="0" err="1"/>
              <a:t>Scanpy</a:t>
            </a:r>
            <a:r>
              <a:rPr lang="en-US" dirty="0"/>
              <a:t>: </a:t>
            </a:r>
            <a:r>
              <a:rPr lang="en-US" dirty="0">
                <a:hlinkClick r:id="rId5"/>
              </a:rPr>
              <a:t>https://scanpy.readthedocs.io/</a:t>
            </a:r>
            <a:endParaRPr lang="en-US" dirty="0"/>
          </a:p>
          <a:p>
            <a:r>
              <a:rPr lang="en-US" dirty="0" err="1"/>
              <a:t>Squidpy</a:t>
            </a:r>
            <a:r>
              <a:rPr lang="en-US" dirty="0"/>
              <a:t>: </a:t>
            </a:r>
            <a:r>
              <a:rPr lang="en-US" dirty="0">
                <a:hlinkClick r:id="rId6"/>
              </a:rPr>
              <a:t>https://squidpy.readthedocs.io/</a:t>
            </a:r>
            <a:r>
              <a:rPr lang="en-US" dirty="0"/>
              <a:t> </a:t>
            </a:r>
          </a:p>
          <a:p>
            <a:r>
              <a:rPr lang="en-US" dirty="0" err="1"/>
              <a:t>SpatialData</a:t>
            </a:r>
            <a:r>
              <a:rPr lang="en-US" dirty="0"/>
              <a:t>: </a:t>
            </a:r>
            <a:r>
              <a:rPr lang="en-US" dirty="0">
                <a:hlinkClick r:id="rId7"/>
              </a:rPr>
              <a:t>https://spatialdata.scverse.org</a:t>
            </a:r>
            <a:r>
              <a:rPr lang="en-US" dirty="0"/>
              <a:t> </a:t>
            </a:r>
          </a:p>
          <a:p>
            <a:r>
              <a:rPr lang="en-US" dirty="0"/>
              <a:t>Harpy: </a:t>
            </a:r>
            <a:r>
              <a:rPr lang="en-US" dirty="0">
                <a:hlinkClick r:id="rId8"/>
              </a:rPr>
              <a:t>https://harpy.readthedocs.io/en/latest/</a:t>
            </a:r>
            <a:endParaRPr lang="en-US" dirty="0"/>
          </a:p>
          <a:p>
            <a:r>
              <a:rPr lang="en-US" dirty="0"/>
              <a:t>… </a:t>
            </a:r>
            <a:endParaRPr lang="en-BE" dirty="0"/>
          </a:p>
          <a:p>
            <a:endParaRPr lang="en-BE" dirty="0"/>
          </a:p>
        </p:txBody>
      </p:sp>
      <p:pic>
        <p:nvPicPr>
          <p:cNvPr id="5" name="Content Placeholder 4" descr="A black text on a white background&#10;&#10;Description automatically generated">
            <a:extLst>
              <a:ext uri="{FF2B5EF4-FFF2-40B4-BE49-F238E27FC236}">
                <a16:creationId xmlns:a16="http://schemas.microsoft.com/office/drawing/2014/main" id="{7860288F-8ACC-C0ED-32E5-10479F56890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55668" y="309114"/>
            <a:ext cx="3413760" cy="109768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B7EF775A-B5B1-0482-51AD-70A16D0B2A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946754" y="2251034"/>
            <a:ext cx="1826146" cy="1780492"/>
          </a:xfrm>
          <a:prstGeom prst="rect">
            <a:avLst/>
          </a:prstGeom>
        </p:spPr>
      </p:pic>
      <p:pic>
        <p:nvPicPr>
          <p:cNvPr id="10" name="Picture 9" descr="A logo with text on it&#10;&#10;Description automatically generated">
            <a:extLst>
              <a:ext uri="{FF2B5EF4-FFF2-40B4-BE49-F238E27FC236}">
                <a16:creationId xmlns:a16="http://schemas.microsoft.com/office/drawing/2014/main" id="{8EEF519D-6250-AA47-D625-963608F58EE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1434" y="1481491"/>
            <a:ext cx="1950861" cy="860380"/>
          </a:xfrm>
          <a:prstGeom prst="rect">
            <a:avLst/>
          </a:prstGeom>
        </p:spPr>
      </p:pic>
      <p:pic>
        <p:nvPicPr>
          <p:cNvPr id="12" name="Picture 11" descr="A blue and white logo&#10;&#10;Description automatically generated">
            <a:extLst>
              <a:ext uri="{FF2B5EF4-FFF2-40B4-BE49-F238E27FC236}">
                <a16:creationId xmlns:a16="http://schemas.microsoft.com/office/drawing/2014/main" id="{94543D6E-05F1-2EDF-F316-5F6EECB3BE9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5332" y="5878206"/>
            <a:ext cx="2607819" cy="860380"/>
          </a:xfrm>
          <a:prstGeom prst="rect">
            <a:avLst/>
          </a:prstGeom>
        </p:spPr>
      </p:pic>
      <p:pic>
        <p:nvPicPr>
          <p:cNvPr id="4" name="Picture 2">
            <a:extLst>
              <a:ext uri="{FF2B5EF4-FFF2-40B4-BE49-F238E27FC236}">
                <a16:creationId xmlns:a16="http://schemas.microsoft.com/office/drawing/2014/main" id="{3E2FDF96-EA38-9D6E-D39A-1E275CCDDB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108" y="626659"/>
            <a:ext cx="2611724" cy="91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C3F9B8-80C9-4C54-AC95-96442C7FA5A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8811" y="4255660"/>
            <a:ext cx="1506967" cy="156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38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9784B-21BA-0B3A-395F-F0DC710DB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1B9F640B-9926-A50F-E3B4-630A042309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259"/>
          <a:stretch/>
        </p:blipFill>
        <p:spPr>
          <a:xfrm>
            <a:off x="4845316" y="741956"/>
            <a:ext cx="7359210" cy="61160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0C30C63-D3FD-0796-9FA7-0667FFFE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/>
              <a:t>SpatialData</a:t>
            </a:r>
            <a:endParaRPr lang="en-BE" dirty="0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A2F9AD40-ABAF-AF90-5308-6D3152C21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69" y="529303"/>
            <a:ext cx="4293524" cy="997206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75D54EA-76A2-90C0-F8AC-425DE1A0A6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41787"/>
            <a:ext cx="4184737" cy="4274256"/>
          </a:xfrm>
        </p:spPr>
        <p:txBody>
          <a:bodyPr/>
          <a:lstStyle/>
          <a:p>
            <a:r>
              <a:rPr lang="en-US" dirty="0"/>
              <a:t>Data framework that handles data storage format, access, alignment in different coordinate spaces, processing operations…</a:t>
            </a:r>
          </a:p>
          <a:p>
            <a:r>
              <a:rPr lang="en-US" dirty="0" err="1"/>
              <a:t>Napari</a:t>
            </a:r>
            <a:r>
              <a:rPr lang="en-US" dirty="0"/>
              <a:t> plugin for interactive annotation and visualization</a:t>
            </a:r>
          </a:p>
          <a:p>
            <a:endParaRPr lang="en-US" dirty="0"/>
          </a:p>
          <a:p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083030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9B5AB4-5545-BA3B-2E59-B7EB94CD7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7B246-D005-5228-793F-F0B7BC1B5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1023600" cy="4274256"/>
          </a:xfrm>
        </p:spPr>
        <p:txBody>
          <a:bodyPr/>
          <a:lstStyle/>
          <a:p>
            <a:r>
              <a:rPr lang="en-US" dirty="0"/>
              <a:t>Developed by VIB Spatial Catalyst in collaboration with the Yvan </a:t>
            </a:r>
            <a:r>
              <a:rPr lang="en-US" dirty="0" err="1"/>
              <a:t>Saeys</a:t>
            </a:r>
            <a:r>
              <a:rPr lang="en-US" dirty="0"/>
              <a:t> lab.</a:t>
            </a:r>
          </a:p>
          <a:p>
            <a:r>
              <a:rPr lang="en-US" dirty="0"/>
              <a:t>A flexible, interactive and scalable pipeline for spatial omics analysis.</a:t>
            </a:r>
            <a:endParaRPr lang="en-BE"/>
          </a:p>
          <a:p>
            <a:r>
              <a:rPr lang="en-US" dirty="0">
                <a:hlinkClick r:id="rId3"/>
              </a:rPr>
              <a:t>https://harpy.readthedocs.io/en/latest/</a:t>
            </a:r>
            <a:r>
              <a:rPr lang="en-US" dirty="0"/>
              <a:t>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3A5BB2-07AE-26A4-0C30-52082B85F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6174"/>
            <a:ext cx="1506967" cy="156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3946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57DF487-DA81-BA40-FA02-06555CE0ACB8}"/>
              </a:ext>
            </a:extLst>
          </p:cNvPr>
          <p:cNvSpPr txBox="1"/>
          <p:nvPr/>
        </p:nvSpPr>
        <p:spPr>
          <a:xfrm>
            <a:off x="2839720" y="615115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Rombaut</a:t>
            </a:r>
            <a:r>
              <a:rPr lang="en-US" sz="1200" i="1" dirty="0"/>
              <a:t> et al.</a:t>
            </a:r>
            <a:r>
              <a:rPr lang="en-US" sz="1200" dirty="0"/>
              <a:t>, Scalable analysis of whole slide spatial proteomics with Harpy, </a:t>
            </a:r>
            <a:r>
              <a:rPr lang="en-US" sz="1200" i="1" dirty="0"/>
              <a:t>Bioinformatics</a:t>
            </a:r>
            <a:r>
              <a:rPr lang="en-US" sz="1200" dirty="0"/>
              <a:t>, Volume 42, Issue 3, March 2026, </a:t>
            </a:r>
            <a:r>
              <a:rPr lang="en-US" sz="1200" dirty="0">
                <a:hlinkClick r:id="rId2"/>
              </a:rPr>
              <a:t>https://doi.org/10.1093/bioinformatics/btag122</a:t>
            </a:r>
            <a:endParaRPr lang="en-BE" sz="1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ED7AC3-3926-1337-3A16-579CD390B6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825" y="86360"/>
            <a:ext cx="7506350" cy="5494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4E69E2-1830-FE5D-1FB8-32BEE7FAB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66174"/>
            <a:ext cx="1506967" cy="156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27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48C69-BC66-0269-8F0D-E5C2A2A6F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9A3E7E34-DADB-965A-BBD8-F2EF236DA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182" y="166174"/>
            <a:ext cx="1506967" cy="1561655"/>
          </a:xfrm>
          <a:prstGeom prst="rect">
            <a:avLst/>
          </a:prstGeom>
        </p:spPr>
      </p:pic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2E573CAC-A2D1-55AA-E1D8-BD0EFFEBBC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787"/>
            <a:ext cx="11023600" cy="4274256"/>
          </a:xfrm>
        </p:spPr>
        <p:txBody>
          <a:bodyPr/>
          <a:lstStyle/>
          <a:p>
            <a:r>
              <a:rPr lang="en-US" b="1" dirty="0"/>
              <a:t>Features</a:t>
            </a:r>
            <a:r>
              <a:rPr lang="en-US" dirty="0"/>
              <a:t>: Image preprocessing, segmentation, shallow and deep feature extraction, data aggregation, QC, plotting, downstream, segmentation-free approaches, …</a:t>
            </a:r>
          </a:p>
          <a:p>
            <a:r>
              <a:rPr lang="en-US" b="1" dirty="0"/>
              <a:t>Integration</a:t>
            </a:r>
            <a:r>
              <a:rPr lang="en-US" dirty="0"/>
              <a:t> with state-of-the-art tools</a:t>
            </a:r>
          </a:p>
          <a:p>
            <a:r>
              <a:rPr lang="en-US" b="1" dirty="0"/>
              <a:t>Scalable</a:t>
            </a:r>
          </a:p>
          <a:p>
            <a:r>
              <a:rPr lang="en-US" b="1" dirty="0"/>
              <a:t>Multi-platform</a:t>
            </a:r>
            <a:r>
              <a:rPr lang="en-US" dirty="0"/>
              <a:t> support</a:t>
            </a:r>
          </a:p>
          <a:p>
            <a:r>
              <a:rPr lang="en-US" b="1" dirty="0"/>
              <a:t>Active</a:t>
            </a:r>
            <a:r>
              <a:rPr lang="en-US" dirty="0"/>
              <a:t> maintenance</a:t>
            </a:r>
            <a:r>
              <a:rPr lang="en-US" b="1" dirty="0"/>
              <a:t> </a:t>
            </a:r>
            <a:r>
              <a:rPr lang="en-US" dirty="0"/>
              <a:t>and development by the VIB Spatial Catalyst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685C7E4-D10A-E912-6AEB-19FB60515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Why     	        ?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550295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33D6E-89EE-A77A-F0DF-24981E97B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229C7F-56E0-87F9-195A-59A4D4F12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330" y="166174"/>
            <a:ext cx="1506967" cy="156165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AB05E15-3A0F-F369-2917-59323445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4"/>
          </a:xfrm>
        </p:spPr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napari</a:t>
            </a:r>
            <a:r>
              <a:rPr lang="en-US" dirty="0"/>
              <a:t>-    	       ?</a:t>
            </a:r>
            <a:endParaRPr lang="en-BE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B90BA13-FDB3-B049-69E8-58651D95E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221"/>
            <a:ext cx="11023600" cy="4749822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Napari-harpy offers interactive </a:t>
            </a:r>
            <a:r>
              <a:rPr lang="en-US" b="1" dirty="0"/>
              <a:t>exploration</a:t>
            </a:r>
            <a:r>
              <a:rPr lang="en-US" dirty="0"/>
              <a:t>, </a:t>
            </a:r>
            <a:r>
              <a:rPr lang="en-US" b="1" dirty="0"/>
              <a:t>annotation, feature</a:t>
            </a:r>
            <a:r>
              <a:rPr lang="en-US" dirty="0"/>
              <a:t> </a:t>
            </a:r>
            <a:r>
              <a:rPr lang="en-US" b="1" dirty="0"/>
              <a:t>extraction</a:t>
            </a:r>
            <a:r>
              <a:rPr lang="en-US" dirty="0"/>
              <a:t> and </a:t>
            </a:r>
            <a:r>
              <a:rPr lang="en-US" b="1" dirty="0"/>
              <a:t>object</a:t>
            </a:r>
            <a:r>
              <a:rPr lang="en-US" dirty="0"/>
              <a:t> </a:t>
            </a:r>
            <a:r>
              <a:rPr lang="en-US" b="1" dirty="0"/>
              <a:t>classification.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7B994F-88A5-5BFA-EA3E-96D3BE354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1380" y="2810320"/>
            <a:ext cx="7046258" cy="3881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77479"/>
      </p:ext>
    </p:extLst>
  </p:cSld>
  <p:clrMapOvr>
    <a:masterClrMapping/>
  </p:clrMapOvr>
</p:sld>
</file>

<file path=ppt/theme/theme1.xml><?xml version="1.0" encoding="utf-8"?>
<a:theme xmlns:a="http://schemas.openxmlformats.org/drawingml/2006/main" name="VIB_template_new">
  <a:themeElements>
    <a:clrScheme name="VIB Colours">
      <a:dk1>
        <a:srgbClr val="1B2944"/>
      </a:dk1>
      <a:lt1>
        <a:sysClr val="window" lastClr="FFFFFF"/>
      </a:lt1>
      <a:dk2>
        <a:srgbClr val="1B2944"/>
      </a:dk2>
      <a:lt2>
        <a:srgbClr val="FFFFFF"/>
      </a:lt2>
      <a:accent1>
        <a:srgbClr val="5DB7B1"/>
      </a:accent1>
      <a:accent2>
        <a:srgbClr val="5A2A82"/>
      </a:accent2>
      <a:accent3>
        <a:srgbClr val="FF681E"/>
      </a:accent3>
      <a:accent4>
        <a:srgbClr val="1B2944"/>
      </a:accent4>
      <a:accent5>
        <a:srgbClr val="7C7C7C"/>
      </a:accent5>
      <a:accent6>
        <a:srgbClr val="FFFFFF"/>
      </a:accent6>
      <a:hlink>
        <a:srgbClr val="5DB7B1"/>
      </a:hlink>
      <a:folHlink>
        <a:srgbClr val="5DB7B1"/>
      </a:folHlink>
    </a:clrScheme>
    <a:fontScheme name="VIB Theme">
      <a:majorFont>
        <a:latin typeface="Corbel"/>
        <a:ea typeface=""/>
        <a:cs typeface=""/>
      </a:majorFont>
      <a:minorFont>
        <a:latin typeface="Corbe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C318EBDD-D315-4024-9E4D-DD22272AF3B6}" vid="{5740A0BE-9644-430B-BC39-C23ABDDB42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4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4E55E6-A294-444F-B048-157345E60D6D}">
  <we:reference id="wa104379279" version="2.1.0.0" store="en-US" storeType="OMEX"/>
  <we:alternateReferences>
    <we:reference id="wa104379279" version="2.1.0.0" store="WA104379279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9847DCE5DA4242BD95148C56C57335" ma:contentTypeVersion="11" ma:contentTypeDescription="Create a new document." ma:contentTypeScope="" ma:versionID="11a4d453230cd4d4c2393d6801c0fce2">
  <xsd:schema xmlns:xsd="http://www.w3.org/2001/XMLSchema" xmlns:xs="http://www.w3.org/2001/XMLSchema" xmlns:p="http://schemas.microsoft.com/office/2006/metadata/properties" xmlns:ns2="d890fe46-f0b8-485b-b8f1-9d14de9b0787" xmlns:ns3="0be0113b-24d1-4772-9566-8275849eae64" targetNamespace="http://schemas.microsoft.com/office/2006/metadata/properties" ma:root="true" ma:fieldsID="cf3d9d43ccecfc68abefe444434385a8" ns2:_="" ns3:_="">
    <xsd:import namespace="d890fe46-f0b8-485b-b8f1-9d14de9b0787"/>
    <xsd:import namespace="0be0113b-24d1-4772-9566-8275849eae6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90fe46-f0b8-485b-b8f1-9d14de9b07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be0113b-24d1-4772-9566-8275849eae64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2ACFC8-8459-4508-8B1A-3BD20F30D0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C54415-54EE-4E30-91C9-4DBD1779750F}">
  <ds:schemaRefs>
    <ds:schemaRef ds:uri="0be0113b-24d1-4772-9566-8275849eae64"/>
    <ds:schemaRef ds:uri="d890fe46-f0b8-485b-b8f1-9d14de9b078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E2E8258-310D-4501-B7DC-626E24733C76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d890fe46-f0b8-485b-b8f1-9d14de9b0787"/>
    <ds:schemaRef ds:uri="0be0113b-24d1-4772-9566-8275849eae64"/>
    <ds:schemaRef ds:uri="http://schemas.microsoft.com/office/2006/documentManagement/types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VIB_PPT_newtemplate.potx</Template>
  <TotalTime>3667</TotalTime>
  <Words>347</Words>
  <Application>Microsoft Macintosh PowerPoint</Application>
  <PresentationFormat>Widescreen</PresentationFormat>
  <Paragraphs>42</Paragraphs>
  <Slides>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Corbel</vt:lpstr>
      <vt:lpstr>VIB_template_new</vt:lpstr>
      <vt:lpstr>Introduction</vt:lpstr>
      <vt:lpstr>GUI software</vt:lpstr>
      <vt:lpstr>           packages</vt:lpstr>
      <vt:lpstr>Python      packages</vt:lpstr>
      <vt:lpstr>SpatialData</vt:lpstr>
      <vt:lpstr>PowerPoint Presentation</vt:lpstr>
      <vt:lpstr>PowerPoint Presentation</vt:lpstr>
      <vt:lpstr>Why              ?</vt:lpstr>
      <vt:lpstr>Why napari-           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Katrina Wright | VIB |</dc:creator>
  <cp:lastModifiedBy>Arne Defauw</cp:lastModifiedBy>
  <cp:revision>972</cp:revision>
  <cp:lastPrinted>2022-09-21T07:46:50Z</cp:lastPrinted>
  <dcterms:created xsi:type="dcterms:W3CDTF">2016-10-14T10:10:52Z</dcterms:created>
  <dcterms:modified xsi:type="dcterms:W3CDTF">2026-09-15T11:27:39Z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0x010100929847DCE5DA4242BD95148C56C57335</vt:lpwstr>
  </property>
  <property fmtid="{D5CDD505-2E9C-101B-9397-08002B2CF9AE}" pid="3" name="SPOCTopic">
    <vt:lpwstr>2;#Communication at VIB|ec6637b6-7d77-48dd-8d1a-e5ad5a42a5b7</vt:lpwstr>
  </property>
  <property fmtid="{D5CDD505-2E9C-101B-9397-08002B2CF9AE}" pid="4" name="SPOCLanguage">
    <vt:lpwstr>13;#English|cf1ccf97-a177-4e56-a5ce-0b376d8acdb5</vt:lpwstr>
  </property>
  <property fmtid="{D5CDD505-2E9C-101B-9397-08002B2CF9AE}" pid="5" name="SPOCDocType">
    <vt:lpwstr>14;#Presentation|8e68f16f-19a2-445e-867d-5034e2efae7a</vt:lpwstr>
  </property>
  <property fmtid="{D5CDD505-2E9C-101B-9397-08002B2CF9AE}" pid="6" name="MediaServiceImageTags">
    <vt:lpwstr/>
  </property>
</Properties>
</file>